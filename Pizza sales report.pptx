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0"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8"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474" autoAdjust="0"/>
  </p:normalViewPr>
  <p:slideViewPr>
    <p:cSldViewPr snapToGrid="0">
      <p:cViewPr>
        <p:scale>
          <a:sx n="75" d="100"/>
          <a:sy n="75" d="100"/>
        </p:scale>
        <p:origin x="54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5/23/2026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5/23/2026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5/23/2026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5/23/2026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5/23/2026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819CD3-BCFB-355E-C353-5AA2BA0142AD}"/>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703383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AF060F8-44BD-A1C0-D088-ED563A87AF1A}"/>
              </a:ext>
            </a:extLst>
          </p:cNvPr>
          <p:cNvSpPr>
            <a:spLocks noGrp="1"/>
          </p:cNvSpPr>
          <p:nvPr>
            <p:ph type="title"/>
          </p:nvPr>
        </p:nvSpPr>
        <p:spPr>
          <a:xfrm>
            <a:off x="457200" y="688708"/>
            <a:ext cx="11153607" cy="992173"/>
          </a:xfrm>
        </p:spPr>
        <p:txBody>
          <a:bodyPr>
            <a:normAutofit/>
          </a:bodyPr>
          <a:lstStyle/>
          <a:p>
            <a:pPr algn="ctr"/>
            <a:r>
              <a:rPr lang="en-IN" sz="4000" dirty="0"/>
              <a:t>Pizza sales report</a:t>
            </a:r>
          </a:p>
        </p:txBody>
      </p:sp>
      <p:sp>
        <p:nvSpPr>
          <p:cNvPr id="8" name="TextBox 7">
            <a:extLst>
              <a:ext uri="{FF2B5EF4-FFF2-40B4-BE49-F238E27FC236}">
                <a16:creationId xmlns:a16="http://schemas.microsoft.com/office/drawing/2014/main" id="{9A4DB40E-7E06-983D-415F-B70EA88BDDCB}"/>
              </a:ext>
            </a:extLst>
          </p:cNvPr>
          <p:cNvSpPr txBox="1"/>
          <p:nvPr/>
        </p:nvSpPr>
        <p:spPr>
          <a:xfrm>
            <a:off x="406408" y="1815353"/>
            <a:ext cx="11295529" cy="2062103"/>
          </a:xfrm>
          <a:prstGeom prst="rect">
            <a:avLst/>
          </a:prstGeom>
          <a:noFill/>
        </p:spPr>
        <p:txBody>
          <a:bodyPr wrap="square" rtlCol="0">
            <a:spAutoFit/>
          </a:bodyPr>
          <a:lstStyle/>
          <a:p>
            <a:r>
              <a:rPr lang="en-IN" sz="2000" b="1" dirty="0">
                <a:latin typeface="+mj-lt"/>
                <a:ea typeface="Verdana" panose="020B0604030504040204" pitchFamily="34" charset="0"/>
                <a:cs typeface="Lucida Sans Unicode" panose="020B0602030504020204" pitchFamily="34" charset="0"/>
              </a:rPr>
              <a:t>Introduction – </a:t>
            </a:r>
          </a:p>
          <a:p>
            <a:endParaRPr lang="en-IN" sz="1000" b="1" dirty="0"/>
          </a:p>
          <a:p>
            <a:pPr algn="just"/>
            <a:r>
              <a:rPr lang="en-US" dirty="0"/>
              <a:t>The Pizza Sales SQL Project is designed to analyze pizza sales data using SQL queries and database management techniques. The project focuses on understanding customer ordering patterns, sales performance, and revenue generation. Various SQL concepts such as JOINS, Aggregate Functions, GROUP BY, and Window Functions are used to extract meaningful insights from the data. This analysis helps in identifying best-selling pizzas, peak order timings, and overall business trends, supporting better decision-making for restaurant management.</a:t>
            </a:r>
            <a:endParaRPr lang="en-IN" dirty="0"/>
          </a:p>
          <a:p>
            <a:endParaRPr lang="en-IN" sz="800" b="1" dirty="0"/>
          </a:p>
        </p:txBody>
      </p:sp>
      <p:sp>
        <p:nvSpPr>
          <p:cNvPr id="11" name="TextBox 10">
            <a:extLst>
              <a:ext uri="{FF2B5EF4-FFF2-40B4-BE49-F238E27FC236}">
                <a16:creationId xmlns:a16="http://schemas.microsoft.com/office/drawing/2014/main" id="{BE1E9D07-B2DF-581C-6A17-4695D4B55D53}"/>
              </a:ext>
            </a:extLst>
          </p:cNvPr>
          <p:cNvSpPr txBox="1"/>
          <p:nvPr/>
        </p:nvSpPr>
        <p:spPr>
          <a:xfrm>
            <a:off x="386238" y="4011928"/>
            <a:ext cx="11295529" cy="2308324"/>
          </a:xfrm>
          <a:prstGeom prst="rect">
            <a:avLst/>
          </a:prstGeom>
          <a:noFill/>
        </p:spPr>
        <p:txBody>
          <a:bodyPr wrap="square" rtlCol="0">
            <a:spAutoFit/>
          </a:bodyPr>
          <a:lstStyle/>
          <a:p>
            <a:r>
              <a:rPr lang="en-IN" sz="2000" b="1" dirty="0"/>
              <a:t>Database Architecture Summary – </a:t>
            </a:r>
          </a:p>
          <a:p>
            <a:endParaRPr lang="en-IN" sz="1050" b="1" dirty="0"/>
          </a:p>
          <a:p>
            <a:pPr algn="just"/>
            <a:r>
              <a:rPr lang="en-IN" dirty="0">
                <a:latin typeface="+mj-lt"/>
              </a:rPr>
              <a:t>The analysis is executed across four interconnected tables, mapping transactional data directly to product attributes:</a:t>
            </a:r>
          </a:p>
          <a:p>
            <a:pPr marL="285750" indent="-285750" algn="just">
              <a:buFont typeface="Arial" panose="020B0604020202020204" pitchFamily="34" charset="0"/>
              <a:buChar char="•"/>
            </a:pPr>
            <a:r>
              <a:rPr lang="en-IN" b="1" dirty="0">
                <a:latin typeface="+mj-lt"/>
              </a:rPr>
              <a:t>orders</a:t>
            </a:r>
            <a:r>
              <a:rPr lang="en-IN" dirty="0">
                <a:latin typeface="+mj-lt"/>
              </a:rPr>
              <a:t>: Logs core transaction endpoints (</a:t>
            </a:r>
            <a:r>
              <a:rPr lang="en-IN" dirty="0" err="1">
                <a:latin typeface="+mj-lt"/>
              </a:rPr>
              <a:t>order_id</a:t>
            </a:r>
            <a:r>
              <a:rPr lang="en-IN" dirty="0">
                <a:latin typeface="+mj-lt"/>
              </a:rPr>
              <a:t>, date, time).</a:t>
            </a:r>
          </a:p>
          <a:p>
            <a:pPr marL="285750" indent="-285750" algn="just">
              <a:buFont typeface="Arial" panose="020B0604020202020204" pitchFamily="34" charset="0"/>
              <a:buChar char="•"/>
            </a:pPr>
            <a:r>
              <a:rPr lang="en-IN" b="1" dirty="0" err="1">
                <a:latin typeface="+mj-lt"/>
              </a:rPr>
              <a:t>order_details</a:t>
            </a:r>
            <a:r>
              <a:rPr lang="en-IN" dirty="0">
                <a:latin typeface="+mj-lt"/>
              </a:rPr>
              <a:t>: Captures granular line items within each transaction (</a:t>
            </a:r>
            <a:r>
              <a:rPr lang="en-IN" dirty="0" err="1">
                <a:latin typeface="+mj-lt"/>
              </a:rPr>
              <a:t>order_details_id</a:t>
            </a:r>
            <a:r>
              <a:rPr lang="en-IN" dirty="0">
                <a:latin typeface="+mj-lt"/>
              </a:rPr>
              <a:t>, </a:t>
            </a:r>
            <a:r>
              <a:rPr lang="en-IN" dirty="0" err="1">
                <a:latin typeface="+mj-lt"/>
              </a:rPr>
              <a:t>order_id</a:t>
            </a:r>
            <a:r>
              <a:rPr lang="en-IN" dirty="0">
                <a:latin typeface="+mj-lt"/>
              </a:rPr>
              <a:t>, </a:t>
            </a:r>
            <a:r>
              <a:rPr lang="en-IN" dirty="0" err="1">
                <a:latin typeface="+mj-lt"/>
              </a:rPr>
              <a:t>pizza_id</a:t>
            </a:r>
            <a:r>
              <a:rPr lang="en-IN" dirty="0">
                <a:latin typeface="+mj-lt"/>
              </a:rPr>
              <a:t>, quantity).</a:t>
            </a:r>
          </a:p>
          <a:p>
            <a:pPr marL="285750" indent="-285750" algn="just">
              <a:buFont typeface="Arial" panose="020B0604020202020204" pitchFamily="34" charset="0"/>
              <a:buChar char="•"/>
            </a:pPr>
            <a:r>
              <a:rPr lang="en-IN" b="1" dirty="0">
                <a:latin typeface="+mj-lt"/>
              </a:rPr>
              <a:t>pizzas</a:t>
            </a:r>
            <a:r>
              <a:rPr lang="en-IN" dirty="0">
                <a:latin typeface="+mj-lt"/>
              </a:rPr>
              <a:t>: Functions as the product master list tracking pricing metrics (</a:t>
            </a:r>
            <a:r>
              <a:rPr lang="en-IN" dirty="0" err="1">
                <a:latin typeface="+mj-lt"/>
              </a:rPr>
              <a:t>pizza_id</a:t>
            </a:r>
            <a:r>
              <a:rPr lang="en-IN" dirty="0">
                <a:latin typeface="+mj-lt"/>
              </a:rPr>
              <a:t>, </a:t>
            </a:r>
            <a:r>
              <a:rPr lang="en-IN" dirty="0" err="1">
                <a:latin typeface="+mj-lt"/>
              </a:rPr>
              <a:t>pizza_type_id</a:t>
            </a:r>
            <a:r>
              <a:rPr lang="en-IN" dirty="0">
                <a:latin typeface="+mj-lt"/>
              </a:rPr>
              <a:t>, size, price).</a:t>
            </a:r>
          </a:p>
          <a:p>
            <a:pPr marL="285750" indent="-285750" algn="just">
              <a:buFont typeface="Arial" panose="020B0604020202020204" pitchFamily="34" charset="0"/>
              <a:buChar char="•"/>
            </a:pPr>
            <a:r>
              <a:rPr lang="en-IN" b="1" dirty="0" err="1">
                <a:latin typeface="+mj-lt"/>
              </a:rPr>
              <a:t>pizza_types</a:t>
            </a:r>
            <a:r>
              <a:rPr lang="en-IN" dirty="0">
                <a:latin typeface="+mj-lt"/>
              </a:rPr>
              <a:t>: Stores high-level product metadata and structural grouping (</a:t>
            </a:r>
            <a:r>
              <a:rPr lang="en-IN" dirty="0" err="1">
                <a:latin typeface="+mj-lt"/>
              </a:rPr>
              <a:t>pizza_type_id</a:t>
            </a:r>
            <a:r>
              <a:rPr lang="en-IN" dirty="0">
                <a:latin typeface="+mj-lt"/>
              </a:rPr>
              <a:t>, name, category, ingredients).</a:t>
            </a:r>
          </a:p>
        </p:txBody>
      </p:sp>
    </p:spTree>
    <p:extLst>
      <p:ext uri="{BB962C8B-B14F-4D97-AF65-F5344CB8AC3E}">
        <p14:creationId xmlns:p14="http://schemas.microsoft.com/office/powerpoint/2010/main" val="1020256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86809C3-0A5F-9ADE-85E4-511761CEC82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5ED92C1E-08BB-D632-DABF-18EE3616F55C}"/>
              </a:ext>
            </a:extLst>
          </p:cNvPr>
          <p:cNvSpPr txBox="1"/>
          <p:nvPr/>
        </p:nvSpPr>
        <p:spPr>
          <a:xfrm>
            <a:off x="800100" y="609600"/>
            <a:ext cx="3619500" cy="523220"/>
          </a:xfrm>
          <a:prstGeom prst="rect">
            <a:avLst/>
          </a:prstGeom>
          <a:noFill/>
        </p:spPr>
        <p:txBody>
          <a:bodyPr wrap="square" rtlCol="0">
            <a:spAutoFit/>
          </a:bodyPr>
          <a:lstStyle/>
          <a:p>
            <a:r>
              <a:rPr lang="en-IN" sz="2800" b="1" dirty="0"/>
              <a:t>Project Objectives - </a:t>
            </a:r>
          </a:p>
        </p:txBody>
      </p:sp>
      <p:sp>
        <p:nvSpPr>
          <p:cNvPr id="15" name="TextBox 14">
            <a:extLst>
              <a:ext uri="{FF2B5EF4-FFF2-40B4-BE49-F238E27FC236}">
                <a16:creationId xmlns:a16="http://schemas.microsoft.com/office/drawing/2014/main" id="{C68AD6F0-7B0A-13E3-2E13-6D1E0889383A}"/>
              </a:ext>
            </a:extLst>
          </p:cNvPr>
          <p:cNvSpPr txBox="1"/>
          <p:nvPr/>
        </p:nvSpPr>
        <p:spPr>
          <a:xfrm>
            <a:off x="508000" y="1343680"/>
            <a:ext cx="11468100" cy="5109091"/>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Wingdings" panose="05000000000000000000" pitchFamily="2" charset="2"/>
              <a:buChar char="Ø"/>
            </a:pPr>
            <a:r>
              <a:rPr lang="en-US" altLang="en-US" b="1" dirty="0">
                <a:latin typeface="Lucida Sans Unicode" panose="020B0602030504020204" pitchFamily="34" charset="0"/>
                <a:cs typeface="Lucida Sans Unicode" panose="020B0602030504020204" pitchFamily="34" charset="0"/>
              </a:rPr>
              <a:t>Financial Performance Analysis</a:t>
            </a:r>
          </a:p>
          <a:p>
            <a:pPr lvl="0" defTabSz="914400" eaLnBrk="0" fontAlgn="base" hangingPunct="0">
              <a:spcBef>
                <a:spcPct val="0"/>
              </a:spcBef>
              <a:spcAft>
                <a:spcPct val="0"/>
              </a:spcAft>
            </a:pPr>
            <a:endParaRPr lang="en-US" altLang="en-US" sz="3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Calculate Total Revenue and Average Order Value (AOV) to quantify business health.</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Analyze the percentage contribution of different pizza categories to overall sales</a:t>
            </a:r>
          </a:p>
          <a:p>
            <a:pPr lvl="0" defTabSz="914400" eaLnBrk="0" fontAlgn="base" hangingPunct="0">
              <a:spcBef>
                <a:spcPct val="0"/>
              </a:spcBef>
              <a:spcAft>
                <a:spcPct val="0"/>
              </a:spcAft>
            </a:pPr>
            <a:endParaRPr lang="en-US" altLang="en-US" sz="1000" dirty="0">
              <a:latin typeface="Arial" panose="020B0604020202020204" pitchFamily="34" charset="0"/>
            </a:endParaRPr>
          </a:p>
          <a:p>
            <a:pPr lvl="0" defTabSz="914400" eaLnBrk="0" fontAlgn="base" hangingPunct="0">
              <a:spcBef>
                <a:spcPct val="0"/>
              </a:spcBef>
              <a:spcAft>
                <a:spcPct val="0"/>
              </a:spcAft>
            </a:pPr>
            <a:endParaRPr lang="en-US" altLang="en-US" sz="1000" dirty="0">
              <a:latin typeface="Arial" panose="020B0604020202020204" pitchFamily="34" charset="0"/>
            </a:endParaRPr>
          </a:p>
          <a:p>
            <a:pPr marL="285750" lvl="0" indent="-285750" defTabSz="914400" eaLnBrk="0" fontAlgn="base" hangingPunct="0">
              <a:spcBef>
                <a:spcPct val="0"/>
              </a:spcBef>
              <a:spcAft>
                <a:spcPct val="0"/>
              </a:spcAft>
              <a:buFont typeface="Wingdings" panose="05000000000000000000" pitchFamily="2" charset="2"/>
              <a:buChar char="Ø"/>
            </a:pPr>
            <a:r>
              <a:rPr lang="en-US" altLang="en-US" b="1" dirty="0">
                <a:latin typeface="Lucida Sans Unicode" panose="020B0602030504020204" pitchFamily="34" charset="0"/>
                <a:cs typeface="Lucida Sans Unicode" panose="020B0602030504020204" pitchFamily="34" charset="0"/>
              </a:rPr>
              <a:t>Operational Efficiency mapping</a:t>
            </a:r>
          </a:p>
          <a:p>
            <a:pPr lvl="0" defTabSz="914400" eaLnBrk="0" fontAlgn="base" hangingPunct="0">
              <a:spcBef>
                <a:spcPct val="0"/>
              </a:spcBef>
              <a:spcAft>
                <a:spcPct val="0"/>
              </a:spcAft>
            </a:pPr>
            <a:endParaRPr lang="en-US" altLang="en-US" sz="300" dirty="0">
              <a:latin typeface="Lucida Sans Unicode" panose="020B0602030504020204" pitchFamily="34" charset="0"/>
              <a:cs typeface="Lucida Sans Unicode" panose="020B0602030504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Identify peak rush hours and high-volume days of the week to optimize staffing.</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Determine throughput trends by calculating the average number of pizzas per order.</a:t>
            </a:r>
          </a:p>
          <a:p>
            <a:pPr lvl="0" defTabSz="914400" eaLnBrk="0" fontAlgn="base" hangingPunct="0">
              <a:spcBef>
                <a:spcPct val="0"/>
              </a:spcBef>
              <a:spcAft>
                <a:spcPct val="0"/>
              </a:spcAft>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Wingdings" panose="05000000000000000000" pitchFamily="2" charset="2"/>
              <a:buChar char="Ø"/>
            </a:pPr>
            <a:r>
              <a:rPr lang="en-US" altLang="en-US" b="1" dirty="0">
                <a:latin typeface="Arial" panose="020B0604020202020204" pitchFamily="34" charset="0"/>
              </a:rPr>
              <a:t>Menu &amp; Portfolio Optimization</a:t>
            </a:r>
          </a:p>
          <a:p>
            <a:pPr marL="285750" lvl="0" indent="-285750" defTabSz="914400" eaLnBrk="0" fontAlgn="base" hangingPunct="0">
              <a:spcBef>
                <a:spcPct val="0"/>
              </a:spcBef>
              <a:spcAft>
                <a:spcPct val="0"/>
              </a:spcAft>
              <a:buFont typeface="Wingdings" panose="05000000000000000000" pitchFamily="2" charset="2"/>
              <a:buChar char="Ø"/>
            </a:pPr>
            <a:endParaRPr lang="en-US" altLang="en-US" sz="3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Rank the top 5 and bottom 5 pizza varieties based on revenue and quantity sold.</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Evaluate consumer size preferences (S, M, L, XL) to optimize inventory and dough preparation.</a:t>
            </a:r>
          </a:p>
          <a:p>
            <a:pPr lvl="0" defTabSz="914400" eaLnBrk="0" fontAlgn="base" hangingPunct="0">
              <a:spcBef>
                <a:spcPct val="0"/>
              </a:spcBef>
              <a:spcAft>
                <a:spcPct val="0"/>
              </a:spcAft>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Wingdings" panose="05000000000000000000" pitchFamily="2" charset="2"/>
              <a:buChar char="Ø"/>
            </a:pPr>
            <a:r>
              <a:rPr lang="en-US" altLang="en-US" b="1" dirty="0">
                <a:latin typeface="Arial" panose="020B0604020202020204" pitchFamily="34" charset="0"/>
              </a:rPr>
              <a:t>Technical SQL Implementation</a:t>
            </a:r>
          </a:p>
          <a:p>
            <a:pPr lvl="0" defTabSz="914400" eaLnBrk="0" fontAlgn="base" hangingPunct="0">
              <a:spcBef>
                <a:spcPct val="0"/>
              </a:spcBef>
              <a:spcAft>
                <a:spcPct val="0"/>
              </a:spcAft>
            </a:pPr>
            <a:endParaRPr lang="en-US" altLang="en-US" sz="3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Execute multi-table </a:t>
            </a:r>
            <a:r>
              <a:rPr lang="en-US" altLang="en-US" b="1" dirty="0">
                <a:latin typeface="Arial" panose="020B0604020202020204" pitchFamily="34" charset="0"/>
              </a:rPr>
              <a:t>Inner Joins</a:t>
            </a:r>
            <a:r>
              <a:rPr lang="en-US" altLang="en-US" dirty="0">
                <a:latin typeface="Arial" panose="020B0604020202020204" pitchFamily="34" charset="0"/>
              </a:rPr>
              <a:t> across a 4-table relational schema.</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Apply </a:t>
            </a:r>
            <a:r>
              <a:rPr lang="en-US" altLang="en-US" b="1" dirty="0">
                <a:latin typeface="Arial" panose="020B0604020202020204" pitchFamily="34" charset="0"/>
              </a:rPr>
              <a:t>Aggregate Functions</a:t>
            </a:r>
            <a:r>
              <a:rPr lang="en-US" altLang="en-US" dirty="0">
                <a:latin typeface="Arial" panose="020B0604020202020204" pitchFamily="34" charset="0"/>
              </a:rPr>
              <a:t> (</a:t>
            </a:r>
            <a:r>
              <a:rPr lang="en-US" altLang="en-US" sz="1200" dirty="0">
                <a:latin typeface="Arial Unicode MS"/>
              </a:rPr>
              <a:t>SUM</a:t>
            </a:r>
            <a:r>
              <a:rPr lang="en-US" altLang="en-US" sz="1600" dirty="0"/>
              <a:t>, </a:t>
            </a:r>
            <a:r>
              <a:rPr lang="en-US" altLang="en-US" sz="1200" dirty="0">
                <a:latin typeface="Arial Unicode MS"/>
              </a:rPr>
              <a:t>COUNT</a:t>
            </a:r>
            <a:r>
              <a:rPr lang="en-US" altLang="en-US" sz="1600" dirty="0"/>
              <a:t>, </a:t>
            </a:r>
            <a:r>
              <a:rPr lang="en-US" altLang="en-US" sz="1200" dirty="0">
                <a:latin typeface="Arial Unicode MS"/>
              </a:rPr>
              <a:t>AVG</a:t>
            </a:r>
            <a:r>
              <a:rPr lang="en-US" altLang="en-US" dirty="0">
                <a:latin typeface="Arial Unicode MS"/>
              </a:rPr>
              <a:t>)</a:t>
            </a:r>
            <a:r>
              <a:rPr lang="en-US" altLang="en-US" sz="2400" dirty="0"/>
              <a:t> and </a:t>
            </a:r>
            <a:r>
              <a:rPr lang="en-US" altLang="en-US" b="1" dirty="0">
                <a:latin typeface="Arial" panose="020B0604020202020204" pitchFamily="34" charset="0"/>
              </a:rPr>
              <a:t>Window Functions</a:t>
            </a:r>
            <a:r>
              <a:rPr lang="en-US" altLang="en-US" dirty="0">
                <a:latin typeface="Arial" panose="020B0604020202020204" pitchFamily="34" charset="0"/>
              </a:rPr>
              <a:t> </a:t>
            </a:r>
            <a:r>
              <a:rPr lang="en-US" altLang="en-US" sz="1400" dirty="0">
                <a:latin typeface="Arial" panose="020B0604020202020204" pitchFamily="34" charset="0"/>
              </a:rPr>
              <a:t>(</a:t>
            </a:r>
            <a:r>
              <a:rPr lang="en-US" altLang="en-US" sz="1400" dirty="0">
                <a:latin typeface="Arial Unicode MS"/>
              </a:rPr>
              <a:t>RANK</a:t>
            </a:r>
            <a:r>
              <a:rPr lang="en-US" altLang="en-US" sz="1400" dirty="0"/>
              <a:t>, </a:t>
            </a:r>
            <a:r>
              <a:rPr lang="en-US" altLang="en-US" sz="1400" dirty="0">
                <a:latin typeface="Arial Unicode MS"/>
              </a:rPr>
              <a:t>OVER</a:t>
            </a:r>
            <a:r>
              <a:rPr lang="en-US" altLang="en-US" sz="1400" dirty="0"/>
              <a:t>) </a:t>
            </a:r>
            <a:r>
              <a:rPr lang="en-US" altLang="en-US" dirty="0"/>
              <a:t>for advanced data insights.</a:t>
            </a:r>
            <a:endParaRPr lang="en-US" altLang="en-US" sz="3200" dirty="0">
              <a:latin typeface="Arial" panose="020B0604020202020204" pitchFamily="34" charset="0"/>
            </a:endParaRPr>
          </a:p>
          <a:p>
            <a:pPr lvl="0" defTabSz="914400" eaLnBrk="0" fontAlgn="base" hangingPunct="0">
              <a:spcBef>
                <a:spcPct val="0"/>
              </a:spcBef>
              <a:spcAft>
                <a:spcPct val="0"/>
              </a:spcAft>
            </a:pPr>
            <a:endParaRPr lang="en-US" altLang="en-US" dirty="0">
              <a:latin typeface="Arial" panose="020B0604020202020204" pitchFamily="34" charset="0"/>
            </a:endParaRPr>
          </a:p>
          <a:p>
            <a:endParaRPr lang="en-IN" dirty="0"/>
          </a:p>
        </p:txBody>
      </p:sp>
    </p:spTree>
    <p:extLst>
      <p:ext uri="{BB962C8B-B14F-4D97-AF65-F5344CB8AC3E}">
        <p14:creationId xmlns:p14="http://schemas.microsoft.com/office/powerpoint/2010/main" val="342165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5E356F9-578E-FAFC-BFC5-DBEA288B6101}"/>
              </a:ext>
            </a:extLst>
          </p:cNvPr>
          <p:cNvSpPr txBox="1"/>
          <p:nvPr/>
        </p:nvSpPr>
        <p:spPr>
          <a:xfrm>
            <a:off x="387349" y="571207"/>
            <a:ext cx="10478621" cy="6132448"/>
          </a:xfrm>
          <a:prstGeom prst="rect">
            <a:avLst/>
          </a:prstGeom>
          <a:noFill/>
        </p:spPr>
        <p:txBody>
          <a:bodyPr wrap="square">
            <a:spAutoFit/>
          </a:bodyPr>
          <a:lstStyle/>
          <a:p>
            <a:r>
              <a:rPr lang="en-IN" sz="2400" b="1" dirty="0">
                <a:solidFill>
                  <a:schemeClr val="tx1">
                    <a:lumMod val="95000"/>
                    <a:lumOff val="5000"/>
                  </a:schemeClr>
                </a:solidFill>
              </a:rPr>
              <a:t>Case Studies – </a:t>
            </a:r>
          </a:p>
          <a:p>
            <a:pPr marL="228600" indent="-228600">
              <a:buFont typeface="+mj-lt"/>
              <a:buAutoNum type="arabicPeriod"/>
            </a:pPr>
            <a:endParaRPr lang="en-IN" sz="1050" b="1" dirty="0">
              <a:solidFill>
                <a:schemeClr val="tx1">
                  <a:lumMod val="95000"/>
                  <a:lumOff val="5000"/>
                </a:schemeClr>
              </a:solidFill>
            </a:endParaRPr>
          </a:p>
          <a:p>
            <a:pPr marL="457200" lvl="0" indent="-457200">
              <a:buFont typeface="+mj-lt"/>
              <a:buAutoNum type="arabicPeriod"/>
            </a:pPr>
            <a:r>
              <a:rPr lang="en-IN" sz="2000" dirty="0"/>
              <a:t>Retrieve all orders placed on 2015-01-01.</a:t>
            </a:r>
          </a:p>
          <a:p>
            <a:pPr marL="457200" lvl="0" indent="-457200">
              <a:buFont typeface="+mj-lt"/>
              <a:buAutoNum type="arabicPeriod"/>
            </a:pPr>
            <a:r>
              <a:rPr lang="en-IN" sz="2000" dirty="0"/>
              <a:t>List all distinct pizza categories available.</a:t>
            </a:r>
          </a:p>
          <a:p>
            <a:pPr marL="457200" lvl="0" indent="-457200">
              <a:buFont typeface="+mj-lt"/>
              <a:buAutoNum type="arabicPeriod"/>
            </a:pPr>
            <a:r>
              <a:rPr lang="en-IN" sz="2000" dirty="0"/>
              <a:t>Find total number of pizzas ordered.</a:t>
            </a:r>
          </a:p>
          <a:p>
            <a:pPr marL="457200" lvl="0" indent="-457200">
              <a:buFont typeface="+mj-lt"/>
              <a:buAutoNum type="arabicPeriod"/>
            </a:pPr>
            <a:r>
              <a:rPr lang="en-IN" sz="2000" dirty="0"/>
              <a:t>Get the top 5 most frequently ordered pizza types</a:t>
            </a:r>
          </a:p>
          <a:p>
            <a:pPr marL="457200" lvl="0" indent="-457200">
              <a:buFont typeface="+mj-lt"/>
              <a:buAutoNum type="arabicPeriod"/>
            </a:pPr>
            <a:r>
              <a:rPr lang="en-IN" sz="2000" dirty="0"/>
              <a:t>Show </a:t>
            </a:r>
            <a:r>
              <a:rPr lang="en-IN" sz="2000" dirty="0" err="1"/>
              <a:t>orderid</a:t>
            </a:r>
            <a:r>
              <a:rPr lang="en-IN" sz="2000" dirty="0"/>
              <a:t> and total pizzas ordered in each order.</a:t>
            </a:r>
          </a:p>
          <a:p>
            <a:pPr marL="457200" lvl="0" indent="-457200">
              <a:buFont typeface="+mj-lt"/>
              <a:buAutoNum type="arabicPeriod"/>
            </a:pPr>
            <a:r>
              <a:rPr lang="en-IN" sz="2000" dirty="0"/>
              <a:t>Find the number of orders placed in each hour of the day.</a:t>
            </a:r>
          </a:p>
          <a:p>
            <a:pPr marL="457200" lvl="0" indent="-457200">
              <a:buFont typeface="+mj-lt"/>
              <a:buAutoNum type="arabicPeriod"/>
            </a:pPr>
            <a:r>
              <a:rPr lang="en-IN" sz="2000" dirty="0"/>
              <a:t>Find the day of the week on which the maximum number of orders were placed.</a:t>
            </a:r>
          </a:p>
          <a:p>
            <a:pPr marL="457200" lvl="0" indent="-457200">
              <a:buFont typeface="+mj-lt"/>
              <a:buAutoNum type="arabicPeriod"/>
            </a:pPr>
            <a:r>
              <a:rPr lang="en-IN" sz="2000" dirty="0"/>
              <a:t>Find the earliest and latest order time for each day.</a:t>
            </a:r>
          </a:p>
          <a:p>
            <a:pPr marL="457200" lvl="0" indent="-457200">
              <a:buFont typeface="+mj-lt"/>
              <a:buAutoNum type="arabicPeriod"/>
            </a:pPr>
            <a:r>
              <a:rPr lang="en-IN" sz="2000" dirty="0"/>
              <a:t>Find the total revenue generated from each pizza type.</a:t>
            </a:r>
          </a:p>
          <a:p>
            <a:pPr marL="457200" lvl="0" indent="-457200">
              <a:buFont typeface="+mj-lt"/>
              <a:buAutoNum type="arabicPeriod"/>
            </a:pPr>
            <a:r>
              <a:rPr lang="en-IN" sz="2000" dirty="0"/>
              <a:t>Which pizza category generated the maximum revenue?</a:t>
            </a:r>
          </a:p>
          <a:p>
            <a:pPr marL="457200" lvl="0" indent="-457200">
              <a:buFont typeface="+mj-lt"/>
              <a:buAutoNum type="arabicPeriod"/>
            </a:pPr>
            <a:r>
              <a:rPr lang="en-IN" sz="2000" dirty="0"/>
              <a:t>Find the average number of pizzas ordered per order.</a:t>
            </a:r>
          </a:p>
          <a:p>
            <a:pPr marL="457200" lvl="0" indent="-457200">
              <a:buFont typeface="+mj-lt"/>
              <a:buAutoNum type="arabicPeriod"/>
            </a:pPr>
            <a:r>
              <a:rPr lang="en-IN" sz="2000" dirty="0"/>
              <a:t>List the top 3 orders which spent the most</a:t>
            </a:r>
          </a:p>
          <a:p>
            <a:pPr marL="457200" lvl="0" indent="-457200">
              <a:buFont typeface="+mj-lt"/>
              <a:buAutoNum type="arabicPeriod"/>
            </a:pPr>
            <a:r>
              <a:rPr lang="en-IN" sz="2000" dirty="0"/>
              <a:t>Find the cumulative revenue generated throughout the day (running total).</a:t>
            </a:r>
          </a:p>
          <a:p>
            <a:pPr marL="457200" lvl="0" indent="-457200">
              <a:buFont typeface="+mj-lt"/>
              <a:buAutoNum type="arabicPeriod"/>
            </a:pPr>
            <a:r>
              <a:rPr lang="en-IN" sz="2000" dirty="0"/>
              <a:t>Identify the pizza that has been ordered the least number of times.</a:t>
            </a:r>
          </a:p>
          <a:p>
            <a:pPr marL="457200" indent="-457200">
              <a:buFont typeface="+mj-lt"/>
              <a:buAutoNum type="arabicPeriod"/>
            </a:pPr>
            <a:r>
              <a:rPr lang="en-IN" sz="2000" dirty="0"/>
              <a:t>Find the percentage contribution of each pizza category to total revenue</a:t>
            </a:r>
            <a:r>
              <a:rPr lang="en-IN" sz="2000" b="1" dirty="0"/>
              <a:t>.</a:t>
            </a:r>
            <a:r>
              <a:rPr lang="en-US" dirty="0"/>
              <a:t> </a:t>
            </a:r>
          </a:p>
          <a:p>
            <a:pPr marL="457200" indent="-457200">
              <a:buFont typeface="+mj-lt"/>
              <a:buAutoNum type="arabicPeriod"/>
            </a:pPr>
            <a:r>
              <a:rPr lang="en-US" sz="2000" dirty="0"/>
              <a:t>Find the max Difference(minutes) of each order placed on each day</a:t>
            </a:r>
          </a:p>
          <a:p>
            <a:pPr marL="457200" indent="-457200">
              <a:buFont typeface="+mj-lt"/>
              <a:buAutoNum type="arabicPeriod"/>
            </a:pPr>
            <a:r>
              <a:rPr lang="en-US" sz="2000" dirty="0"/>
              <a:t>Find the rolling avg sales of last 3 months</a:t>
            </a:r>
          </a:p>
          <a:p>
            <a:pPr marL="457200" indent="-457200">
              <a:buFont typeface="+mj-lt"/>
              <a:buAutoNum type="arabicPeriod"/>
            </a:pPr>
            <a:r>
              <a:rPr lang="en-US" sz="2000" dirty="0"/>
              <a:t>Compare the Previous Month Sales with the current month and show only declining sales</a:t>
            </a:r>
            <a:r>
              <a:rPr lang="en-US" dirty="0"/>
              <a:t>.</a:t>
            </a:r>
          </a:p>
        </p:txBody>
      </p:sp>
    </p:spTree>
    <p:extLst>
      <p:ext uri="{BB962C8B-B14F-4D97-AF65-F5344CB8AC3E}">
        <p14:creationId xmlns:p14="http://schemas.microsoft.com/office/powerpoint/2010/main" val="2942620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97EF7-4640-8BEF-FA79-DEA934EFDFBF}"/>
              </a:ext>
            </a:extLst>
          </p:cNvPr>
          <p:cNvSpPr>
            <a:spLocks noGrp="1"/>
          </p:cNvSpPr>
          <p:nvPr>
            <p:ph type="title" idx="4294967295"/>
          </p:nvPr>
        </p:nvSpPr>
        <p:spPr>
          <a:xfrm>
            <a:off x="0" y="850900"/>
            <a:ext cx="11029950" cy="598488"/>
          </a:xfrm>
        </p:spPr>
        <p:txBody>
          <a:bodyPr/>
          <a:lstStyle/>
          <a:p>
            <a:pPr algn="ctr"/>
            <a:r>
              <a:rPr lang="en-IN" dirty="0"/>
              <a:t>SQL QUERIES</a:t>
            </a:r>
          </a:p>
        </p:txBody>
      </p:sp>
      <p:sp>
        <p:nvSpPr>
          <p:cNvPr id="4" name="TextBox 3">
            <a:extLst>
              <a:ext uri="{FF2B5EF4-FFF2-40B4-BE49-F238E27FC236}">
                <a16:creationId xmlns:a16="http://schemas.microsoft.com/office/drawing/2014/main" id="{A16162E8-C75A-A6BC-2512-3F940D2A848B}"/>
              </a:ext>
            </a:extLst>
          </p:cNvPr>
          <p:cNvSpPr txBox="1"/>
          <p:nvPr/>
        </p:nvSpPr>
        <p:spPr>
          <a:xfrm>
            <a:off x="301625" y="204569"/>
            <a:ext cx="11588750" cy="646331"/>
          </a:xfrm>
          <a:prstGeom prst="rect">
            <a:avLst/>
          </a:prstGeom>
          <a:solidFill>
            <a:schemeClr val="accent1">
              <a:lumMod val="75000"/>
              <a:lumOff val="25000"/>
            </a:schemeClr>
          </a:solidFill>
          <a:ln>
            <a:solidFill>
              <a:schemeClr val="accent1"/>
            </a:solidFill>
          </a:ln>
        </p:spPr>
        <p:txBody>
          <a:bodyPr wrap="square" rtlCol="0">
            <a:spAutoFit/>
          </a:bodyPr>
          <a:lstStyle/>
          <a:p>
            <a:pPr algn="ctr"/>
            <a:r>
              <a:rPr lang="en-IN" sz="3600" dirty="0">
                <a:solidFill>
                  <a:schemeClr val="bg1"/>
                </a:solidFill>
              </a:rPr>
              <a:t>SQL Queries &amp; Analysis</a:t>
            </a:r>
            <a:endParaRPr lang="en-IN" sz="3600" dirty="0">
              <a:solidFill>
                <a:schemeClr val="bg1"/>
              </a:solidFill>
              <a:latin typeface="+mj-lt"/>
            </a:endParaRPr>
          </a:p>
        </p:txBody>
      </p:sp>
      <p:sp>
        <p:nvSpPr>
          <p:cNvPr id="5" name="TextBox 4">
            <a:extLst>
              <a:ext uri="{FF2B5EF4-FFF2-40B4-BE49-F238E27FC236}">
                <a16:creationId xmlns:a16="http://schemas.microsoft.com/office/drawing/2014/main" id="{7362CCEC-B8A0-23A2-418F-EB674E3B7CE5}"/>
              </a:ext>
            </a:extLst>
          </p:cNvPr>
          <p:cNvSpPr txBox="1"/>
          <p:nvPr/>
        </p:nvSpPr>
        <p:spPr>
          <a:xfrm>
            <a:off x="311150" y="955755"/>
            <a:ext cx="10883900" cy="2923877"/>
          </a:xfrm>
          <a:prstGeom prst="rect">
            <a:avLst/>
          </a:prstGeom>
          <a:noFill/>
        </p:spPr>
        <p:txBody>
          <a:bodyPr wrap="square" rtlCol="0">
            <a:spAutoFit/>
          </a:bodyPr>
          <a:lstStyle/>
          <a:p>
            <a:r>
              <a:rPr lang="en-IN" sz="2000" dirty="0">
                <a:latin typeface="Trebuchet MS" panose="020B0603020202020204" pitchFamily="34" charset="0"/>
                <a:ea typeface="Gadugi" panose="020B0502040204020203" pitchFamily="34" charset="0"/>
              </a:rPr>
              <a:t>1. Retrieve all orders placed on 2015-01-01.</a:t>
            </a:r>
          </a:p>
          <a:p>
            <a:endParaRPr lang="en-IN" dirty="0"/>
          </a:p>
          <a:p>
            <a:r>
              <a:rPr lang="en-IN" b="1" dirty="0">
                <a:latin typeface="Constantia" panose="02030602050306030303" pitchFamily="18" charset="0"/>
                <a:cs typeface="Lucida Sans Unicode" panose="020B0602030504020204" pitchFamily="34" charset="0"/>
              </a:rPr>
              <a:t>Query- </a:t>
            </a:r>
          </a:p>
          <a:p>
            <a:r>
              <a:rPr lang="en-US" sz="1800" dirty="0">
                <a:solidFill>
                  <a:srgbClr val="0000FF"/>
                </a:solidFill>
                <a:effectLst/>
                <a:latin typeface="Cascadia Mono" panose="020B0609020000020004" pitchFamily="49" charset="0"/>
              </a:rPr>
              <a:t> select</a:t>
            </a:r>
            <a:r>
              <a:rPr lang="en-US" sz="1800" dirty="0">
                <a:solidFill>
                  <a:srgbClr val="000000"/>
                </a:solidFill>
                <a:effectLst/>
                <a:latin typeface="Cascadia Mono" panose="020B0609020000020004" pitchFamily="49" charset="0"/>
              </a:rPr>
              <a:t> </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orders</a:t>
            </a:r>
          </a:p>
          <a:p>
            <a:pPr>
              <a:buNone/>
            </a:pPr>
            <a:r>
              <a:rPr lang="en-US" sz="1800" dirty="0">
                <a:solidFill>
                  <a:srgbClr val="0000FF"/>
                </a:solidFill>
                <a:effectLst/>
                <a:latin typeface="Cascadia Mono" panose="020B0609020000020004" pitchFamily="49" charset="0"/>
              </a:rPr>
              <a:t> where</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date</a:t>
            </a:r>
            <a:r>
              <a:rPr lang="en-US" sz="1800" dirty="0">
                <a:solidFill>
                  <a:srgbClr val="000000"/>
                </a:solidFill>
                <a:effectLst/>
                <a:latin typeface="Cascadia Mono" panose="020B0609020000020004" pitchFamily="49" charset="0"/>
              </a:rPr>
              <a:t> </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FF0000"/>
                </a:solidFill>
                <a:effectLst/>
                <a:latin typeface="Cascadia Mono" panose="020B0609020000020004" pitchFamily="49" charset="0"/>
              </a:rPr>
              <a:t>'2015-01-01'</a:t>
            </a:r>
            <a:endParaRPr lang="en-US" sz="1800" dirty="0">
              <a:solidFill>
                <a:srgbClr val="000000"/>
              </a:solidFill>
              <a:effectLst/>
              <a:latin typeface="Cascadia Mono" panose="020B0609020000020004" pitchFamily="49" charset="0"/>
            </a:endParaRPr>
          </a:p>
          <a:p>
            <a:endParaRPr lang="en-IN" dirty="0">
              <a:latin typeface="Lucida Sans Unicode" panose="020B0602030504020204" pitchFamily="34" charset="0"/>
              <a:cs typeface="Lucida Sans Unicode" panose="020B0602030504020204" pitchFamily="34" charset="0"/>
            </a:endParaRPr>
          </a:p>
          <a:p>
            <a:r>
              <a:rPr lang="en-IN" b="1" dirty="0">
                <a:latin typeface="Constantia" panose="02030602050306030303" pitchFamily="18" charset="0"/>
                <a:cs typeface="Lucida Sans Unicode" panose="020B0602030504020204" pitchFamily="34" charset="0"/>
              </a:rPr>
              <a:t>Result</a:t>
            </a:r>
            <a:r>
              <a:rPr lang="en-IN" b="1" dirty="0">
                <a:latin typeface="Lucida Sans Unicode" panose="020B0602030504020204" pitchFamily="34" charset="0"/>
                <a:cs typeface="Lucida Sans Unicode" panose="020B0602030504020204" pitchFamily="34" charset="0"/>
              </a:rPr>
              <a:t>- </a:t>
            </a:r>
          </a:p>
          <a:p>
            <a:endParaRPr lang="en-IN" dirty="0">
              <a:latin typeface="Lucida Sans Unicode" panose="020B0602030504020204" pitchFamily="34" charset="0"/>
              <a:cs typeface="Lucida Sans Unicode" panose="020B0602030504020204" pitchFamily="34" charset="0"/>
            </a:endParaRPr>
          </a:p>
          <a:p>
            <a:endParaRPr lang="en-IN" dirty="0">
              <a:latin typeface="Lucida Sans Unicode" panose="020B0602030504020204" pitchFamily="34" charset="0"/>
              <a:cs typeface="Lucida Sans Unicode" panose="020B0602030504020204" pitchFamily="34" charset="0"/>
            </a:endParaRPr>
          </a:p>
          <a:p>
            <a:endParaRPr lang="en-IN" dirty="0">
              <a:latin typeface="Lucida Sans Unicode" panose="020B0602030504020204" pitchFamily="34" charset="0"/>
              <a:cs typeface="Lucida Sans Unicode" panose="020B0602030504020204" pitchFamily="34" charset="0"/>
            </a:endParaRPr>
          </a:p>
        </p:txBody>
      </p:sp>
      <p:pic>
        <p:nvPicPr>
          <p:cNvPr id="12" name="Picture 11">
            <a:extLst>
              <a:ext uri="{FF2B5EF4-FFF2-40B4-BE49-F238E27FC236}">
                <a16:creationId xmlns:a16="http://schemas.microsoft.com/office/drawing/2014/main" id="{9E23FD00-7E5D-7AAD-1984-0C33F2CAB75A}"/>
              </a:ext>
            </a:extLst>
          </p:cNvPr>
          <p:cNvPicPr>
            <a:picLocks noChangeAspect="1"/>
          </p:cNvPicPr>
          <p:nvPr/>
        </p:nvPicPr>
        <p:blipFill>
          <a:blip r:embed="rId2"/>
          <a:stretch>
            <a:fillRect/>
          </a:stretch>
        </p:blipFill>
        <p:spPr>
          <a:xfrm>
            <a:off x="2375065" y="2561815"/>
            <a:ext cx="2912966" cy="3989851"/>
          </a:xfrm>
          <a:prstGeom prst="rect">
            <a:avLst/>
          </a:prstGeom>
          <a:ln>
            <a:solidFill>
              <a:schemeClr val="tx2">
                <a:lumMod val="50000"/>
              </a:schemeClr>
            </a:solidFill>
          </a:ln>
        </p:spPr>
      </p:pic>
      <p:pic>
        <p:nvPicPr>
          <p:cNvPr id="14" name="Picture 13">
            <a:extLst>
              <a:ext uri="{FF2B5EF4-FFF2-40B4-BE49-F238E27FC236}">
                <a16:creationId xmlns:a16="http://schemas.microsoft.com/office/drawing/2014/main" id="{169DBE6E-DC49-6CB6-F80A-763E4E53F251}"/>
              </a:ext>
            </a:extLst>
          </p:cNvPr>
          <p:cNvPicPr>
            <a:picLocks noChangeAspect="1"/>
          </p:cNvPicPr>
          <p:nvPr/>
        </p:nvPicPr>
        <p:blipFill>
          <a:blip r:embed="rId3"/>
          <a:stretch>
            <a:fillRect/>
          </a:stretch>
        </p:blipFill>
        <p:spPr>
          <a:xfrm>
            <a:off x="5753100" y="2152118"/>
            <a:ext cx="2505425" cy="4401164"/>
          </a:xfrm>
          <a:prstGeom prst="rect">
            <a:avLst/>
          </a:prstGeom>
          <a:ln>
            <a:solidFill>
              <a:schemeClr val="tx2">
                <a:lumMod val="50000"/>
              </a:schemeClr>
            </a:solidFill>
          </a:ln>
        </p:spPr>
      </p:pic>
      <p:pic>
        <p:nvPicPr>
          <p:cNvPr id="16" name="Picture 15">
            <a:extLst>
              <a:ext uri="{FF2B5EF4-FFF2-40B4-BE49-F238E27FC236}">
                <a16:creationId xmlns:a16="http://schemas.microsoft.com/office/drawing/2014/main" id="{FEF42319-0BEC-D0E5-4393-4F03963A4B27}"/>
              </a:ext>
            </a:extLst>
          </p:cNvPr>
          <p:cNvPicPr>
            <a:picLocks noChangeAspect="1"/>
          </p:cNvPicPr>
          <p:nvPr/>
        </p:nvPicPr>
        <p:blipFill>
          <a:blip r:embed="rId4"/>
          <a:stretch>
            <a:fillRect/>
          </a:stretch>
        </p:blipFill>
        <p:spPr>
          <a:xfrm>
            <a:off x="8723594" y="1259817"/>
            <a:ext cx="2553056" cy="5306165"/>
          </a:xfrm>
          <a:prstGeom prst="rect">
            <a:avLst/>
          </a:prstGeom>
          <a:ln>
            <a:solidFill>
              <a:schemeClr val="tx2">
                <a:lumMod val="50000"/>
              </a:schemeClr>
            </a:solidFill>
          </a:ln>
        </p:spPr>
      </p:pic>
    </p:spTree>
    <p:extLst>
      <p:ext uri="{BB962C8B-B14F-4D97-AF65-F5344CB8AC3E}">
        <p14:creationId xmlns:p14="http://schemas.microsoft.com/office/powerpoint/2010/main" val="999825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A1D5DB-97F1-7FEB-63CF-9BA132538A4F}"/>
              </a:ext>
            </a:extLst>
          </p:cNvPr>
          <p:cNvSpPr txBox="1"/>
          <p:nvPr/>
        </p:nvSpPr>
        <p:spPr>
          <a:xfrm>
            <a:off x="558800" y="840103"/>
            <a:ext cx="11188700" cy="400110"/>
          </a:xfrm>
          <a:prstGeom prst="rect">
            <a:avLst/>
          </a:prstGeom>
          <a:noFill/>
        </p:spPr>
        <p:txBody>
          <a:bodyPr wrap="square" rtlCol="0">
            <a:spAutoFit/>
          </a:bodyPr>
          <a:lstStyle/>
          <a:p>
            <a:r>
              <a:rPr lang="en-IN" sz="2000" dirty="0">
                <a:latin typeface="Trebuchet MS" panose="020B0603020202020204" pitchFamily="34" charset="0"/>
              </a:rPr>
              <a:t>2. </a:t>
            </a:r>
            <a:r>
              <a:rPr lang="en-IN" sz="2000" b="1" dirty="0">
                <a:latin typeface="Trebuchet MS" panose="020B0603020202020204" pitchFamily="34" charset="0"/>
              </a:rPr>
              <a:t>List all distinct pizza categories available.</a:t>
            </a:r>
            <a:endParaRPr lang="en-IN" b="1" dirty="0">
              <a:latin typeface="Trebuchet MS" panose="020B0603020202020204" pitchFamily="34" charset="0"/>
            </a:endParaRPr>
          </a:p>
        </p:txBody>
      </p:sp>
      <p:sp>
        <p:nvSpPr>
          <p:cNvPr id="3" name="TextBox 2">
            <a:extLst>
              <a:ext uri="{FF2B5EF4-FFF2-40B4-BE49-F238E27FC236}">
                <a16:creationId xmlns:a16="http://schemas.microsoft.com/office/drawing/2014/main" id="{27FBE439-DDAB-AE6F-AAB5-27A674DFA587}"/>
              </a:ext>
            </a:extLst>
          </p:cNvPr>
          <p:cNvSpPr txBox="1"/>
          <p:nvPr/>
        </p:nvSpPr>
        <p:spPr>
          <a:xfrm>
            <a:off x="876300" y="1261527"/>
            <a:ext cx="6400800" cy="1169551"/>
          </a:xfrm>
          <a:prstGeom prst="rect">
            <a:avLst/>
          </a:prstGeom>
          <a:noFill/>
        </p:spPr>
        <p:txBody>
          <a:bodyPr wrap="square" rtlCol="0">
            <a:spAutoFit/>
          </a:bodyPr>
          <a:lstStyle/>
          <a:p>
            <a:r>
              <a:rPr lang="en-IN" sz="2000" dirty="0">
                <a:latin typeface="Constantia" panose="02030602050306030303" pitchFamily="18" charset="0"/>
              </a:rPr>
              <a:t>Query </a:t>
            </a:r>
            <a:r>
              <a:rPr lang="en-IN" sz="2000" dirty="0"/>
              <a:t>-</a:t>
            </a:r>
          </a:p>
          <a:p>
            <a:pPr>
              <a:buNone/>
            </a:pPr>
            <a:r>
              <a:rPr lang="en-US" sz="1800" dirty="0">
                <a:solidFill>
                  <a:srgbClr val="0000FF"/>
                </a:solidFill>
                <a:effectLst/>
                <a:latin typeface="Cascadia Mono" panose="020B0609020000020004" pitchFamily="49" charset="0"/>
              </a:rPr>
              <a:t> select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distinct</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category</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Pizza_Types</a:t>
            </a:r>
            <a:endParaRPr lang="en-US" dirty="0">
              <a:solidFill>
                <a:srgbClr val="000000"/>
              </a:solidFill>
              <a:latin typeface="Cascadia Mono" panose="020B0609020000020004" pitchFamily="49" charset="0"/>
            </a:endParaRPr>
          </a:p>
          <a:p>
            <a:pPr>
              <a:buNone/>
            </a:pPr>
            <a:endParaRPr lang="en-US" sz="1200" dirty="0">
              <a:solidFill>
                <a:srgbClr val="000000"/>
              </a:solidFill>
              <a:latin typeface="Cascadia Mono" panose="020B0609020000020004" pitchFamily="49" charset="0"/>
            </a:endParaRPr>
          </a:p>
          <a:p>
            <a:pPr>
              <a:buNone/>
            </a:pPr>
            <a:r>
              <a:rPr lang="en-US" sz="2000" dirty="0">
                <a:solidFill>
                  <a:srgbClr val="000000"/>
                </a:solidFill>
                <a:latin typeface="Constantia" panose="02030602050306030303" pitchFamily="18" charset="0"/>
              </a:rPr>
              <a:t>Result- </a:t>
            </a:r>
            <a:endParaRPr lang="en-US" sz="2000" dirty="0">
              <a:solidFill>
                <a:srgbClr val="000000"/>
              </a:solidFill>
              <a:effectLst/>
              <a:latin typeface="Constantia" panose="02030602050306030303" pitchFamily="18" charset="0"/>
            </a:endParaRPr>
          </a:p>
        </p:txBody>
      </p:sp>
      <p:pic>
        <p:nvPicPr>
          <p:cNvPr id="5" name="Picture 4">
            <a:extLst>
              <a:ext uri="{FF2B5EF4-FFF2-40B4-BE49-F238E27FC236}">
                <a16:creationId xmlns:a16="http://schemas.microsoft.com/office/drawing/2014/main" id="{6440D0D0-420F-95A5-1013-A58EC8938784}"/>
              </a:ext>
            </a:extLst>
          </p:cNvPr>
          <p:cNvPicPr>
            <a:picLocks noChangeAspect="1"/>
          </p:cNvPicPr>
          <p:nvPr/>
        </p:nvPicPr>
        <p:blipFill>
          <a:blip r:embed="rId2"/>
          <a:stretch>
            <a:fillRect/>
          </a:stretch>
        </p:blipFill>
        <p:spPr>
          <a:xfrm>
            <a:off x="2135088" y="2009119"/>
            <a:ext cx="2157512" cy="1679674"/>
          </a:xfrm>
          <a:prstGeom prst="rect">
            <a:avLst/>
          </a:prstGeom>
          <a:ln>
            <a:solidFill>
              <a:schemeClr val="tx2">
                <a:lumMod val="50000"/>
              </a:schemeClr>
            </a:solidFill>
          </a:ln>
        </p:spPr>
      </p:pic>
      <p:sp>
        <p:nvSpPr>
          <p:cNvPr id="6" name="TextBox 5">
            <a:extLst>
              <a:ext uri="{FF2B5EF4-FFF2-40B4-BE49-F238E27FC236}">
                <a16:creationId xmlns:a16="http://schemas.microsoft.com/office/drawing/2014/main" id="{97C0494A-B0F5-C71C-2E13-9D298EC3CBDA}"/>
              </a:ext>
            </a:extLst>
          </p:cNvPr>
          <p:cNvSpPr txBox="1"/>
          <p:nvPr/>
        </p:nvSpPr>
        <p:spPr>
          <a:xfrm>
            <a:off x="558800" y="4251719"/>
            <a:ext cx="6642100" cy="369332"/>
          </a:xfrm>
          <a:prstGeom prst="rect">
            <a:avLst/>
          </a:prstGeom>
          <a:noFill/>
        </p:spPr>
        <p:txBody>
          <a:bodyPr wrap="square" rtlCol="0">
            <a:spAutoFit/>
          </a:bodyPr>
          <a:lstStyle/>
          <a:p>
            <a:r>
              <a:rPr lang="en-IN" dirty="0">
                <a:latin typeface="Trebuchet MS" panose="020B0603020202020204" pitchFamily="34" charset="0"/>
              </a:rPr>
              <a:t>3. </a:t>
            </a:r>
            <a:r>
              <a:rPr lang="en-IN" b="1" dirty="0">
                <a:latin typeface="Trebuchet MS" panose="020B0603020202020204" pitchFamily="34" charset="0"/>
              </a:rPr>
              <a:t>Find total number of pizzas ordered.</a:t>
            </a:r>
            <a:endParaRPr lang="en-IN" dirty="0">
              <a:latin typeface="Trebuchet MS" panose="020B0603020202020204" pitchFamily="34" charset="0"/>
            </a:endParaRPr>
          </a:p>
        </p:txBody>
      </p:sp>
      <p:sp>
        <p:nvSpPr>
          <p:cNvPr id="7" name="TextBox 6">
            <a:extLst>
              <a:ext uri="{FF2B5EF4-FFF2-40B4-BE49-F238E27FC236}">
                <a16:creationId xmlns:a16="http://schemas.microsoft.com/office/drawing/2014/main" id="{AEB29E65-6774-ECD9-BDA2-0A42388DE24B}"/>
              </a:ext>
            </a:extLst>
          </p:cNvPr>
          <p:cNvSpPr txBox="1"/>
          <p:nvPr/>
        </p:nvSpPr>
        <p:spPr>
          <a:xfrm>
            <a:off x="1092200" y="4621051"/>
            <a:ext cx="6400800" cy="1446550"/>
          </a:xfrm>
          <a:prstGeom prst="rect">
            <a:avLst/>
          </a:prstGeom>
          <a:noFill/>
        </p:spPr>
        <p:txBody>
          <a:bodyPr wrap="square" rtlCol="0">
            <a:spAutoFit/>
          </a:bodyPr>
          <a:lstStyle/>
          <a:p>
            <a:r>
              <a:rPr lang="en-IN" sz="2000" dirty="0">
                <a:latin typeface="Constantia" panose="02030602050306030303" pitchFamily="18" charset="0"/>
              </a:rPr>
              <a:t>Query </a:t>
            </a:r>
            <a:r>
              <a:rPr lang="en-IN" sz="2000" dirty="0"/>
              <a:t>-</a:t>
            </a:r>
          </a:p>
          <a:p>
            <a:pPr algn="just">
              <a:buNone/>
            </a:pPr>
            <a:r>
              <a:rPr lang="en-US" sz="1800" dirty="0">
                <a:solidFill>
                  <a:srgbClr val="0000FF"/>
                </a:solidFill>
                <a:effectLst/>
                <a:latin typeface="Cascadia Mono" panose="020B0609020000020004" pitchFamily="49" charset="0"/>
              </a:rPr>
              <a:t> select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sum</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quantity</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total_pizzas</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order_details</a:t>
            </a:r>
            <a:endParaRPr lang="en-US" sz="1800" dirty="0">
              <a:solidFill>
                <a:srgbClr val="000000"/>
              </a:solidFill>
              <a:effectLst/>
              <a:latin typeface="Cascadia Mono" panose="020B0609020000020004" pitchFamily="49" charset="0"/>
            </a:endParaRPr>
          </a:p>
          <a:p>
            <a:pPr>
              <a:buNone/>
            </a:pPr>
            <a:endParaRPr lang="en-US" sz="1200" dirty="0">
              <a:solidFill>
                <a:srgbClr val="000000"/>
              </a:solidFill>
              <a:latin typeface="Cascadia Mono" panose="020B0609020000020004" pitchFamily="49" charset="0"/>
            </a:endParaRPr>
          </a:p>
          <a:p>
            <a:pPr>
              <a:buNone/>
            </a:pPr>
            <a:r>
              <a:rPr lang="en-US" sz="2000" dirty="0">
                <a:solidFill>
                  <a:srgbClr val="000000"/>
                </a:solidFill>
                <a:latin typeface="Constantia" panose="02030602050306030303" pitchFamily="18" charset="0"/>
              </a:rPr>
              <a:t>Result- </a:t>
            </a:r>
            <a:endParaRPr lang="en-US" sz="2000" dirty="0">
              <a:solidFill>
                <a:srgbClr val="000000"/>
              </a:solidFill>
              <a:effectLst/>
              <a:latin typeface="Constantia" panose="02030602050306030303" pitchFamily="18" charset="0"/>
            </a:endParaRPr>
          </a:p>
        </p:txBody>
      </p:sp>
      <p:pic>
        <p:nvPicPr>
          <p:cNvPr id="9" name="Picture 8">
            <a:extLst>
              <a:ext uri="{FF2B5EF4-FFF2-40B4-BE49-F238E27FC236}">
                <a16:creationId xmlns:a16="http://schemas.microsoft.com/office/drawing/2014/main" id="{9EB87881-64FD-B296-7ABC-E08A69A2FE06}"/>
              </a:ext>
            </a:extLst>
          </p:cNvPr>
          <p:cNvPicPr>
            <a:picLocks noChangeAspect="1"/>
          </p:cNvPicPr>
          <p:nvPr/>
        </p:nvPicPr>
        <p:blipFill>
          <a:blip r:embed="rId3"/>
          <a:stretch>
            <a:fillRect/>
          </a:stretch>
        </p:blipFill>
        <p:spPr>
          <a:xfrm>
            <a:off x="3295541" y="5539134"/>
            <a:ext cx="2584559" cy="1161165"/>
          </a:xfrm>
          <a:prstGeom prst="rect">
            <a:avLst/>
          </a:prstGeom>
          <a:ln>
            <a:solidFill>
              <a:schemeClr val="tx2">
                <a:lumMod val="50000"/>
              </a:schemeClr>
            </a:solidFill>
          </a:ln>
        </p:spPr>
      </p:pic>
    </p:spTree>
    <p:extLst>
      <p:ext uri="{BB962C8B-B14F-4D97-AF65-F5344CB8AC3E}">
        <p14:creationId xmlns:p14="http://schemas.microsoft.com/office/powerpoint/2010/main" val="1784518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71086A-E31E-B937-2729-B30C6A6ED46D}"/>
              </a:ext>
            </a:extLst>
          </p:cNvPr>
          <p:cNvSpPr txBox="1"/>
          <p:nvPr/>
        </p:nvSpPr>
        <p:spPr>
          <a:xfrm>
            <a:off x="444500" y="673100"/>
            <a:ext cx="6616700" cy="400110"/>
          </a:xfrm>
          <a:prstGeom prst="rect">
            <a:avLst/>
          </a:prstGeom>
          <a:noFill/>
        </p:spPr>
        <p:txBody>
          <a:bodyPr wrap="square" rtlCol="0">
            <a:spAutoFit/>
          </a:bodyPr>
          <a:lstStyle/>
          <a:p>
            <a:r>
              <a:rPr lang="en-IN" sz="2000" dirty="0"/>
              <a:t>4. </a:t>
            </a:r>
            <a:r>
              <a:rPr lang="en-IN" sz="2000" b="1" dirty="0"/>
              <a:t>Get the top 5 most frequently ordered pizza types</a:t>
            </a:r>
            <a:r>
              <a:rPr lang="en-IN" b="1" dirty="0"/>
              <a:t>.</a:t>
            </a:r>
            <a:endParaRPr lang="en-IN" dirty="0"/>
          </a:p>
        </p:txBody>
      </p:sp>
      <p:sp>
        <p:nvSpPr>
          <p:cNvPr id="4" name="TextBox 3">
            <a:extLst>
              <a:ext uri="{FF2B5EF4-FFF2-40B4-BE49-F238E27FC236}">
                <a16:creationId xmlns:a16="http://schemas.microsoft.com/office/drawing/2014/main" id="{D6754A83-3FF1-09DC-F7D3-4F5B56177A10}"/>
              </a:ext>
            </a:extLst>
          </p:cNvPr>
          <p:cNvSpPr txBox="1"/>
          <p:nvPr/>
        </p:nvSpPr>
        <p:spPr>
          <a:xfrm>
            <a:off x="838200" y="1199109"/>
            <a:ext cx="8915400" cy="2123658"/>
          </a:xfrm>
          <a:prstGeom prst="rect">
            <a:avLst/>
          </a:prstGeom>
          <a:noFill/>
        </p:spPr>
        <p:txBody>
          <a:bodyPr wrap="square" rtlCol="0">
            <a:spAutoFit/>
          </a:bodyPr>
          <a:lstStyle/>
          <a:p>
            <a:pPr>
              <a:buNone/>
            </a:pPr>
            <a:r>
              <a:rPr lang="en-IN" sz="2000" dirty="0">
                <a:effectLst/>
                <a:latin typeface="+mj-lt"/>
              </a:rPr>
              <a:t>Query - </a:t>
            </a:r>
          </a:p>
          <a:p>
            <a:pPr>
              <a:buNone/>
            </a:pPr>
            <a:endParaRPr lang="en-IN" sz="300" dirty="0">
              <a:effectLst/>
              <a:latin typeface="+mj-lt"/>
            </a:endParaRPr>
          </a:p>
          <a:p>
            <a:pPr>
              <a:buNone/>
            </a:pPr>
            <a:endParaRPr lang="en-IN" sz="100" dirty="0">
              <a:latin typeface="+mj-lt"/>
            </a:endParaRPr>
          </a:p>
          <a:p>
            <a:pPr>
              <a:buNone/>
            </a:pPr>
            <a:r>
              <a:rPr lang="en-IN" dirty="0">
                <a:solidFill>
                  <a:srgbClr val="0000FF"/>
                </a:solidFill>
                <a:effectLst/>
                <a:latin typeface="Cascadia Mono" panose="020B0609020000020004" pitchFamily="49" charset="0"/>
              </a:rPr>
              <a:t> select</a:t>
            </a:r>
            <a:r>
              <a:rPr lang="en-IN" dirty="0">
                <a:solidFill>
                  <a:srgbClr val="000000"/>
                </a:solidFill>
                <a:effectLst/>
                <a:latin typeface="Cascadia Mono" panose="020B0609020000020004" pitchFamily="49" charset="0"/>
              </a:rPr>
              <a:t> </a:t>
            </a:r>
            <a:r>
              <a:rPr lang="en-IN" dirty="0">
                <a:solidFill>
                  <a:srgbClr val="0000FF"/>
                </a:solidFill>
                <a:effectLst/>
                <a:latin typeface="Cascadia Mono" panose="020B0609020000020004" pitchFamily="49" charset="0"/>
              </a:rPr>
              <a:t>top</a:t>
            </a:r>
            <a:r>
              <a:rPr lang="en-IN" dirty="0">
                <a:solidFill>
                  <a:srgbClr val="000000"/>
                </a:solidFill>
                <a:effectLst/>
                <a:latin typeface="Cascadia Mono" panose="020B0609020000020004" pitchFamily="49" charset="0"/>
              </a:rPr>
              <a:t> 5 pt</a:t>
            </a:r>
            <a:r>
              <a:rPr lang="en-IN" dirty="0">
                <a:solidFill>
                  <a:srgbClr val="808080"/>
                </a:solidFill>
                <a:effectLst/>
                <a:latin typeface="Cascadia Mono" panose="020B0609020000020004" pitchFamily="49" charset="0"/>
              </a:rPr>
              <a:t>.</a:t>
            </a:r>
            <a:r>
              <a:rPr lang="en-IN" dirty="0">
                <a:solidFill>
                  <a:srgbClr val="0000FF"/>
                </a:solidFill>
                <a:effectLst/>
                <a:latin typeface="Cascadia Mono" panose="020B0609020000020004" pitchFamily="49" charset="0"/>
              </a:rPr>
              <a:t>name</a:t>
            </a:r>
            <a:r>
              <a:rPr lang="en-IN" dirty="0">
                <a:solidFill>
                  <a:srgbClr val="808080"/>
                </a:solidFill>
                <a:effectLst/>
                <a:latin typeface="Cascadia Mono" panose="020B0609020000020004" pitchFamily="49" charset="0"/>
              </a:rPr>
              <a:t>,</a:t>
            </a:r>
            <a:r>
              <a:rPr lang="en-IN" dirty="0">
                <a:solidFill>
                  <a:srgbClr val="000000"/>
                </a:solidFill>
                <a:effectLst/>
                <a:latin typeface="Cascadia Mono" panose="020B0609020000020004" pitchFamily="49" charset="0"/>
              </a:rPr>
              <a:t> </a:t>
            </a:r>
            <a:r>
              <a:rPr lang="en-IN" dirty="0">
                <a:solidFill>
                  <a:srgbClr val="FF00FF"/>
                </a:solidFill>
                <a:effectLst/>
                <a:latin typeface="Cascadia Mono" panose="020B0609020000020004" pitchFamily="49" charset="0"/>
              </a:rPr>
              <a:t>sum</a:t>
            </a:r>
            <a:r>
              <a:rPr lang="en-IN" dirty="0">
                <a:solidFill>
                  <a:srgbClr val="808080"/>
                </a:solidFill>
                <a:effectLst/>
                <a:latin typeface="Cascadia Mono" panose="020B0609020000020004" pitchFamily="49" charset="0"/>
              </a:rPr>
              <a:t>(</a:t>
            </a:r>
            <a:r>
              <a:rPr lang="en-IN" dirty="0" err="1">
                <a:solidFill>
                  <a:srgbClr val="000000"/>
                </a:solidFill>
                <a:effectLst/>
                <a:latin typeface="Cascadia Mono" panose="020B0609020000020004" pitchFamily="49" charset="0"/>
              </a:rPr>
              <a:t>od</a:t>
            </a:r>
            <a:r>
              <a:rPr lang="en-IN" dirty="0" err="1">
                <a:solidFill>
                  <a:srgbClr val="808080"/>
                </a:solidFill>
                <a:effectLst/>
                <a:latin typeface="Cascadia Mono" panose="020B0609020000020004" pitchFamily="49" charset="0"/>
              </a:rPr>
              <a:t>.</a:t>
            </a:r>
            <a:r>
              <a:rPr lang="en-IN" dirty="0" err="1">
                <a:solidFill>
                  <a:srgbClr val="000000"/>
                </a:solidFill>
                <a:effectLst/>
                <a:latin typeface="Cascadia Mono" panose="020B0609020000020004" pitchFamily="49" charset="0"/>
              </a:rPr>
              <a:t>quantity</a:t>
            </a:r>
            <a:r>
              <a:rPr lang="en-IN" dirty="0">
                <a:solidFill>
                  <a:srgbClr val="808080"/>
                </a:solidFill>
                <a:effectLst/>
                <a:latin typeface="Cascadia Mono" panose="020B0609020000020004" pitchFamily="49" charset="0"/>
              </a:rPr>
              <a:t>)</a:t>
            </a:r>
            <a:r>
              <a:rPr lang="en-IN" dirty="0">
                <a:solidFill>
                  <a:srgbClr val="000000"/>
                </a:solidFill>
                <a:effectLst/>
                <a:latin typeface="Cascadia Mono" panose="020B0609020000020004" pitchFamily="49" charset="0"/>
              </a:rPr>
              <a:t> </a:t>
            </a:r>
            <a:r>
              <a:rPr lang="en-IN" dirty="0">
                <a:solidFill>
                  <a:srgbClr val="0000FF"/>
                </a:solidFill>
                <a:effectLst/>
                <a:latin typeface="Cascadia Mono" panose="020B0609020000020004" pitchFamily="49" charset="0"/>
              </a:rPr>
              <a:t>as</a:t>
            </a:r>
            <a:r>
              <a:rPr lang="en-IN" dirty="0">
                <a:solidFill>
                  <a:srgbClr val="000000"/>
                </a:solidFill>
                <a:effectLst/>
                <a:latin typeface="Cascadia Mono" panose="020B0609020000020004" pitchFamily="49" charset="0"/>
              </a:rPr>
              <a:t> total </a:t>
            </a:r>
            <a:r>
              <a:rPr lang="en-IN" dirty="0">
                <a:solidFill>
                  <a:srgbClr val="0000FF"/>
                </a:solidFill>
                <a:effectLst/>
                <a:latin typeface="Cascadia Mono" panose="020B0609020000020004" pitchFamily="49" charset="0"/>
              </a:rPr>
              <a:t>from</a:t>
            </a:r>
            <a:endParaRPr lang="en-IN" dirty="0">
              <a:solidFill>
                <a:srgbClr val="000000"/>
              </a:solidFill>
              <a:effectLst/>
              <a:latin typeface="Cascadia Mono" panose="020B0609020000020004" pitchFamily="49" charset="0"/>
            </a:endParaRPr>
          </a:p>
          <a:p>
            <a:pPr>
              <a:buNone/>
            </a:pPr>
            <a:r>
              <a:rPr lang="en-IN" dirty="0">
                <a:solidFill>
                  <a:srgbClr val="000000"/>
                </a:solidFill>
                <a:effectLst/>
                <a:latin typeface="Cascadia Mono" panose="020B0609020000020004" pitchFamily="49" charset="0"/>
              </a:rPr>
              <a:t> Pizzas p  </a:t>
            </a:r>
            <a:r>
              <a:rPr lang="en-IN" dirty="0">
                <a:solidFill>
                  <a:srgbClr val="808080"/>
                </a:solidFill>
                <a:effectLst/>
                <a:latin typeface="Cascadia Mono" panose="020B0609020000020004" pitchFamily="49" charset="0"/>
              </a:rPr>
              <a:t>join</a:t>
            </a:r>
            <a:r>
              <a:rPr lang="en-IN" dirty="0">
                <a:solidFill>
                  <a:srgbClr val="000000"/>
                </a:solidFill>
                <a:effectLst/>
                <a:latin typeface="Cascadia Mono" panose="020B0609020000020004" pitchFamily="49" charset="0"/>
              </a:rPr>
              <a:t> </a:t>
            </a:r>
            <a:r>
              <a:rPr lang="en-IN" dirty="0" err="1">
                <a:solidFill>
                  <a:srgbClr val="000000"/>
                </a:solidFill>
                <a:effectLst/>
                <a:latin typeface="Cascadia Mono" panose="020B0609020000020004" pitchFamily="49" charset="0"/>
              </a:rPr>
              <a:t>order_details</a:t>
            </a:r>
            <a:r>
              <a:rPr lang="en-IN" dirty="0">
                <a:solidFill>
                  <a:srgbClr val="000000"/>
                </a:solidFill>
                <a:effectLst/>
                <a:latin typeface="Cascadia Mono" panose="020B0609020000020004" pitchFamily="49" charset="0"/>
              </a:rPr>
              <a:t> od </a:t>
            </a:r>
          </a:p>
          <a:p>
            <a:pPr>
              <a:buNone/>
            </a:pPr>
            <a:r>
              <a:rPr lang="en-IN" dirty="0">
                <a:solidFill>
                  <a:srgbClr val="0000FF"/>
                </a:solidFill>
                <a:effectLst/>
                <a:latin typeface="Cascadia Mono" panose="020B0609020000020004" pitchFamily="49" charset="0"/>
              </a:rPr>
              <a:t> on</a:t>
            </a:r>
            <a:r>
              <a:rPr lang="en-IN" dirty="0">
                <a:solidFill>
                  <a:srgbClr val="000000"/>
                </a:solidFill>
                <a:effectLst/>
                <a:latin typeface="Cascadia Mono" panose="020B0609020000020004" pitchFamily="49" charset="0"/>
              </a:rPr>
              <a:t> </a:t>
            </a:r>
            <a:r>
              <a:rPr lang="en-IN" dirty="0" err="1">
                <a:solidFill>
                  <a:srgbClr val="000000"/>
                </a:solidFill>
                <a:effectLst/>
                <a:latin typeface="Cascadia Mono" panose="020B0609020000020004" pitchFamily="49" charset="0"/>
              </a:rPr>
              <a:t>p</a:t>
            </a:r>
            <a:r>
              <a:rPr lang="en-IN" dirty="0" err="1">
                <a:solidFill>
                  <a:srgbClr val="808080"/>
                </a:solidFill>
                <a:effectLst/>
                <a:latin typeface="Cascadia Mono" panose="020B0609020000020004" pitchFamily="49" charset="0"/>
              </a:rPr>
              <a:t>.</a:t>
            </a:r>
            <a:r>
              <a:rPr lang="en-IN" dirty="0" err="1">
                <a:solidFill>
                  <a:srgbClr val="000000"/>
                </a:solidFill>
                <a:effectLst/>
                <a:latin typeface="Cascadia Mono" panose="020B0609020000020004" pitchFamily="49" charset="0"/>
              </a:rPr>
              <a:t>pizza_id</a:t>
            </a:r>
            <a:r>
              <a:rPr lang="en-IN" dirty="0">
                <a:solidFill>
                  <a:srgbClr val="000000"/>
                </a:solidFill>
                <a:effectLst/>
                <a:latin typeface="Cascadia Mono" panose="020B0609020000020004" pitchFamily="49" charset="0"/>
              </a:rPr>
              <a:t> </a:t>
            </a:r>
            <a:r>
              <a:rPr lang="en-IN" dirty="0">
                <a:solidFill>
                  <a:srgbClr val="808080"/>
                </a:solidFill>
                <a:effectLst/>
                <a:latin typeface="Cascadia Mono" panose="020B0609020000020004" pitchFamily="49" charset="0"/>
              </a:rPr>
              <a:t>=</a:t>
            </a:r>
            <a:r>
              <a:rPr lang="en-IN" dirty="0">
                <a:solidFill>
                  <a:srgbClr val="000000"/>
                </a:solidFill>
                <a:effectLst/>
                <a:latin typeface="Cascadia Mono" panose="020B0609020000020004" pitchFamily="49" charset="0"/>
              </a:rPr>
              <a:t> </a:t>
            </a:r>
            <a:r>
              <a:rPr lang="en-IN" dirty="0" err="1">
                <a:solidFill>
                  <a:srgbClr val="000000"/>
                </a:solidFill>
                <a:effectLst/>
                <a:latin typeface="Cascadia Mono" panose="020B0609020000020004" pitchFamily="49" charset="0"/>
              </a:rPr>
              <a:t>od</a:t>
            </a:r>
            <a:r>
              <a:rPr lang="en-IN" dirty="0" err="1">
                <a:solidFill>
                  <a:srgbClr val="808080"/>
                </a:solidFill>
                <a:effectLst/>
                <a:latin typeface="Cascadia Mono" panose="020B0609020000020004" pitchFamily="49" charset="0"/>
              </a:rPr>
              <a:t>.</a:t>
            </a:r>
            <a:r>
              <a:rPr lang="en-IN" dirty="0" err="1">
                <a:solidFill>
                  <a:srgbClr val="000000"/>
                </a:solidFill>
                <a:effectLst/>
                <a:latin typeface="Cascadia Mono" panose="020B0609020000020004" pitchFamily="49" charset="0"/>
              </a:rPr>
              <a:t>pizza_id</a:t>
            </a:r>
            <a:r>
              <a:rPr lang="en-IN" dirty="0">
                <a:solidFill>
                  <a:srgbClr val="000000"/>
                </a:solidFill>
                <a:effectLst/>
                <a:latin typeface="Cascadia Mono" panose="020B0609020000020004" pitchFamily="49" charset="0"/>
              </a:rPr>
              <a:t> </a:t>
            </a:r>
            <a:r>
              <a:rPr lang="en-IN" dirty="0">
                <a:solidFill>
                  <a:srgbClr val="808080"/>
                </a:solidFill>
                <a:effectLst/>
                <a:latin typeface="Cascadia Mono" panose="020B0609020000020004" pitchFamily="49" charset="0"/>
              </a:rPr>
              <a:t>join</a:t>
            </a:r>
            <a:r>
              <a:rPr lang="en-IN" dirty="0">
                <a:solidFill>
                  <a:srgbClr val="000000"/>
                </a:solidFill>
                <a:effectLst/>
                <a:latin typeface="Cascadia Mono" panose="020B0609020000020004" pitchFamily="49" charset="0"/>
              </a:rPr>
              <a:t> </a:t>
            </a:r>
            <a:r>
              <a:rPr lang="en-IN" dirty="0" err="1">
                <a:solidFill>
                  <a:srgbClr val="000000"/>
                </a:solidFill>
                <a:effectLst/>
                <a:latin typeface="Cascadia Mono" panose="020B0609020000020004" pitchFamily="49" charset="0"/>
              </a:rPr>
              <a:t>Pizza_Types</a:t>
            </a:r>
            <a:r>
              <a:rPr lang="en-IN" dirty="0">
                <a:solidFill>
                  <a:srgbClr val="000000"/>
                </a:solidFill>
                <a:effectLst/>
                <a:latin typeface="Cascadia Mono" panose="020B0609020000020004" pitchFamily="49" charset="0"/>
              </a:rPr>
              <a:t> pt </a:t>
            </a:r>
          </a:p>
          <a:p>
            <a:pPr>
              <a:buNone/>
            </a:pPr>
            <a:r>
              <a:rPr lang="en-IN" dirty="0">
                <a:solidFill>
                  <a:srgbClr val="0000FF"/>
                </a:solidFill>
                <a:effectLst/>
                <a:latin typeface="Cascadia Mono" panose="020B0609020000020004" pitchFamily="49" charset="0"/>
              </a:rPr>
              <a:t> on</a:t>
            </a:r>
            <a:r>
              <a:rPr lang="en-IN" dirty="0">
                <a:solidFill>
                  <a:srgbClr val="000000"/>
                </a:solidFill>
                <a:effectLst/>
                <a:latin typeface="Cascadia Mono" panose="020B0609020000020004" pitchFamily="49" charset="0"/>
              </a:rPr>
              <a:t> </a:t>
            </a:r>
            <a:r>
              <a:rPr lang="en-IN" dirty="0" err="1">
                <a:solidFill>
                  <a:srgbClr val="000000"/>
                </a:solidFill>
                <a:effectLst/>
                <a:latin typeface="Cascadia Mono" panose="020B0609020000020004" pitchFamily="49" charset="0"/>
              </a:rPr>
              <a:t>p</a:t>
            </a:r>
            <a:r>
              <a:rPr lang="en-IN" dirty="0" err="1">
                <a:solidFill>
                  <a:srgbClr val="808080"/>
                </a:solidFill>
                <a:effectLst/>
                <a:latin typeface="Cascadia Mono" panose="020B0609020000020004" pitchFamily="49" charset="0"/>
              </a:rPr>
              <a:t>.</a:t>
            </a:r>
            <a:r>
              <a:rPr lang="en-IN" dirty="0" err="1">
                <a:solidFill>
                  <a:srgbClr val="000000"/>
                </a:solidFill>
                <a:effectLst/>
                <a:latin typeface="Cascadia Mono" panose="020B0609020000020004" pitchFamily="49" charset="0"/>
              </a:rPr>
              <a:t>pizza_type_id</a:t>
            </a:r>
            <a:r>
              <a:rPr lang="en-IN" dirty="0">
                <a:solidFill>
                  <a:srgbClr val="000000"/>
                </a:solidFill>
                <a:effectLst/>
                <a:latin typeface="Cascadia Mono" panose="020B0609020000020004" pitchFamily="49" charset="0"/>
              </a:rPr>
              <a:t> </a:t>
            </a:r>
            <a:r>
              <a:rPr lang="en-IN" dirty="0">
                <a:solidFill>
                  <a:srgbClr val="808080"/>
                </a:solidFill>
                <a:effectLst/>
                <a:latin typeface="Cascadia Mono" panose="020B0609020000020004" pitchFamily="49" charset="0"/>
              </a:rPr>
              <a:t>=</a:t>
            </a:r>
            <a:r>
              <a:rPr lang="en-IN" dirty="0">
                <a:solidFill>
                  <a:srgbClr val="000000"/>
                </a:solidFill>
                <a:effectLst/>
                <a:latin typeface="Cascadia Mono" panose="020B0609020000020004" pitchFamily="49" charset="0"/>
              </a:rPr>
              <a:t> </a:t>
            </a:r>
            <a:r>
              <a:rPr lang="en-IN" dirty="0" err="1">
                <a:solidFill>
                  <a:srgbClr val="000000"/>
                </a:solidFill>
                <a:effectLst/>
                <a:latin typeface="Cascadia Mono" panose="020B0609020000020004" pitchFamily="49" charset="0"/>
              </a:rPr>
              <a:t>pt</a:t>
            </a:r>
            <a:r>
              <a:rPr lang="en-IN" dirty="0" err="1">
                <a:solidFill>
                  <a:srgbClr val="808080"/>
                </a:solidFill>
                <a:effectLst/>
                <a:latin typeface="Cascadia Mono" panose="020B0609020000020004" pitchFamily="49" charset="0"/>
              </a:rPr>
              <a:t>.</a:t>
            </a:r>
            <a:r>
              <a:rPr lang="en-IN" dirty="0" err="1">
                <a:solidFill>
                  <a:srgbClr val="000000"/>
                </a:solidFill>
                <a:effectLst/>
                <a:latin typeface="Cascadia Mono" panose="020B0609020000020004" pitchFamily="49" charset="0"/>
              </a:rPr>
              <a:t>pizza_type_id</a:t>
            </a:r>
            <a:endParaRPr lang="en-IN" dirty="0">
              <a:solidFill>
                <a:srgbClr val="000000"/>
              </a:solidFill>
              <a:effectLst/>
              <a:latin typeface="Cascadia Mono" panose="020B0609020000020004" pitchFamily="49" charset="0"/>
            </a:endParaRPr>
          </a:p>
          <a:p>
            <a:pPr>
              <a:buNone/>
            </a:pPr>
            <a:r>
              <a:rPr lang="en-IN" dirty="0">
                <a:solidFill>
                  <a:srgbClr val="0000FF"/>
                </a:solidFill>
                <a:effectLst/>
                <a:latin typeface="Cascadia Mono" panose="020B0609020000020004" pitchFamily="49" charset="0"/>
              </a:rPr>
              <a:t> group</a:t>
            </a:r>
            <a:r>
              <a:rPr lang="en-IN" dirty="0">
                <a:solidFill>
                  <a:srgbClr val="000000"/>
                </a:solidFill>
                <a:effectLst/>
                <a:latin typeface="Cascadia Mono" panose="020B0609020000020004" pitchFamily="49" charset="0"/>
              </a:rPr>
              <a:t> </a:t>
            </a:r>
            <a:r>
              <a:rPr lang="en-IN" dirty="0">
                <a:solidFill>
                  <a:srgbClr val="0000FF"/>
                </a:solidFill>
                <a:effectLst/>
                <a:latin typeface="Cascadia Mono" panose="020B0609020000020004" pitchFamily="49" charset="0"/>
              </a:rPr>
              <a:t>by</a:t>
            </a:r>
            <a:r>
              <a:rPr lang="en-IN" dirty="0">
                <a:solidFill>
                  <a:srgbClr val="000000"/>
                </a:solidFill>
                <a:effectLst/>
                <a:latin typeface="Cascadia Mono" panose="020B0609020000020004" pitchFamily="49" charset="0"/>
              </a:rPr>
              <a:t> pt</a:t>
            </a:r>
            <a:r>
              <a:rPr lang="en-IN" dirty="0">
                <a:solidFill>
                  <a:srgbClr val="808080"/>
                </a:solidFill>
                <a:effectLst/>
                <a:latin typeface="Cascadia Mono" panose="020B0609020000020004" pitchFamily="49" charset="0"/>
              </a:rPr>
              <a:t>.</a:t>
            </a:r>
            <a:r>
              <a:rPr lang="en-IN" dirty="0">
                <a:solidFill>
                  <a:srgbClr val="0000FF"/>
                </a:solidFill>
                <a:effectLst/>
                <a:latin typeface="Cascadia Mono" panose="020B0609020000020004" pitchFamily="49" charset="0"/>
              </a:rPr>
              <a:t>name</a:t>
            </a:r>
            <a:endParaRPr lang="en-IN" dirty="0">
              <a:solidFill>
                <a:srgbClr val="000000"/>
              </a:solidFill>
              <a:effectLst/>
              <a:latin typeface="Cascadia Mono" panose="020B0609020000020004" pitchFamily="49" charset="0"/>
            </a:endParaRPr>
          </a:p>
          <a:p>
            <a:pPr>
              <a:buNone/>
            </a:pPr>
            <a:r>
              <a:rPr lang="en-IN" dirty="0">
                <a:solidFill>
                  <a:srgbClr val="0000FF"/>
                </a:solidFill>
                <a:effectLst/>
                <a:latin typeface="Cascadia Mono" panose="020B0609020000020004" pitchFamily="49" charset="0"/>
              </a:rPr>
              <a:t> order</a:t>
            </a:r>
            <a:r>
              <a:rPr lang="en-IN" dirty="0">
                <a:solidFill>
                  <a:srgbClr val="000000"/>
                </a:solidFill>
                <a:effectLst/>
                <a:latin typeface="Cascadia Mono" panose="020B0609020000020004" pitchFamily="49" charset="0"/>
              </a:rPr>
              <a:t> </a:t>
            </a:r>
            <a:r>
              <a:rPr lang="en-IN" dirty="0">
                <a:solidFill>
                  <a:srgbClr val="0000FF"/>
                </a:solidFill>
                <a:effectLst/>
                <a:latin typeface="Cascadia Mono" panose="020B0609020000020004" pitchFamily="49" charset="0"/>
              </a:rPr>
              <a:t>by</a:t>
            </a:r>
            <a:r>
              <a:rPr lang="en-IN" dirty="0">
                <a:solidFill>
                  <a:srgbClr val="000000"/>
                </a:solidFill>
                <a:effectLst/>
                <a:latin typeface="Cascadia Mono" panose="020B0609020000020004" pitchFamily="49" charset="0"/>
              </a:rPr>
              <a:t> total </a:t>
            </a:r>
            <a:r>
              <a:rPr lang="en-IN" dirty="0" err="1">
                <a:solidFill>
                  <a:srgbClr val="0000FF"/>
                </a:solidFill>
                <a:effectLst/>
                <a:latin typeface="Cascadia Mono" panose="020B0609020000020004" pitchFamily="49" charset="0"/>
              </a:rPr>
              <a:t>desc</a:t>
            </a:r>
            <a:endParaRPr lang="en-IN" dirty="0">
              <a:solidFill>
                <a:srgbClr val="000000"/>
              </a:solidFill>
              <a:effectLst/>
              <a:latin typeface="Cascadia Mono" panose="020B0609020000020004" pitchFamily="49" charset="0"/>
            </a:endParaRPr>
          </a:p>
        </p:txBody>
      </p:sp>
      <p:sp>
        <p:nvSpPr>
          <p:cNvPr id="5" name="TextBox 4">
            <a:extLst>
              <a:ext uri="{FF2B5EF4-FFF2-40B4-BE49-F238E27FC236}">
                <a16:creationId xmlns:a16="http://schemas.microsoft.com/office/drawing/2014/main" id="{756FAC9B-937C-C464-1532-F00C8FF70FC4}"/>
              </a:ext>
            </a:extLst>
          </p:cNvPr>
          <p:cNvSpPr txBox="1"/>
          <p:nvPr/>
        </p:nvSpPr>
        <p:spPr>
          <a:xfrm>
            <a:off x="838200" y="3535234"/>
            <a:ext cx="1295400" cy="400110"/>
          </a:xfrm>
          <a:prstGeom prst="rect">
            <a:avLst/>
          </a:prstGeom>
          <a:noFill/>
        </p:spPr>
        <p:txBody>
          <a:bodyPr wrap="square" rtlCol="0">
            <a:spAutoFit/>
          </a:bodyPr>
          <a:lstStyle/>
          <a:p>
            <a:r>
              <a:rPr lang="en-IN" sz="2000" dirty="0"/>
              <a:t>Result - </a:t>
            </a:r>
          </a:p>
        </p:txBody>
      </p:sp>
      <p:pic>
        <p:nvPicPr>
          <p:cNvPr id="7" name="Picture 6">
            <a:extLst>
              <a:ext uri="{FF2B5EF4-FFF2-40B4-BE49-F238E27FC236}">
                <a16:creationId xmlns:a16="http://schemas.microsoft.com/office/drawing/2014/main" id="{E8066AED-9BDD-23C5-2B4F-8908E0A748E0}"/>
              </a:ext>
            </a:extLst>
          </p:cNvPr>
          <p:cNvPicPr>
            <a:picLocks noChangeAspect="1"/>
          </p:cNvPicPr>
          <p:nvPr/>
        </p:nvPicPr>
        <p:blipFill>
          <a:blip r:embed="rId2"/>
          <a:stretch>
            <a:fillRect/>
          </a:stretch>
        </p:blipFill>
        <p:spPr>
          <a:xfrm>
            <a:off x="2006600" y="4216400"/>
            <a:ext cx="4068858" cy="2123658"/>
          </a:xfrm>
          <a:prstGeom prst="rect">
            <a:avLst/>
          </a:prstGeom>
          <a:ln>
            <a:solidFill>
              <a:schemeClr val="tx2">
                <a:lumMod val="50000"/>
              </a:schemeClr>
            </a:solidFill>
          </a:ln>
        </p:spPr>
      </p:pic>
      <p:pic>
        <p:nvPicPr>
          <p:cNvPr id="6" name="Picture 5">
            <a:extLst>
              <a:ext uri="{FF2B5EF4-FFF2-40B4-BE49-F238E27FC236}">
                <a16:creationId xmlns:a16="http://schemas.microsoft.com/office/drawing/2014/main" id="{796D61D7-838A-AF54-5067-DD026CD8ABEA}"/>
              </a:ext>
            </a:extLst>
          </p:cNvPr>
          <p:cNvPicPr>
            <a:picLocks noChangeAspect="1"/>
          </p:cNvPicPr>
          <p:nvPr/>
        </p:nvPicPr>
        <p:blipFill>
          <a:blip r:embed="rId3"/>
          <a:stretch>
            <a:fillRect/>
          </a:stretch>
        </p:blipFill>
        <p:spPr>
          <a:xfrm>
            <a:off x="6471537" y="3177758"/>
            <a:ext cx="5192708" cy="3162300"/>
          </a:xfrm>
          <a:prstGeom prst="rect">
            <a:avLst/>
          </a:prstGeom>
        </p:spPr>
      </p:pic>
    </p:spTree>
    <p:extLst>
      <p:ext uri="{BB962C8B-B14F-4D97-AF65-F5344CB8AC3E}">
        <p14:creationId xmlns:p14="http://schemas.microsoft.com/office/powerpoint/2010/main" val="2793029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E68ED7-46FE-E00F-8302-ECE290060DF4}"/>
              </a:ext>
            </a:extLst>
          </p:cNvPr>
          <p:cNvSpPr txBox="1"/>
          <p:nvPr/>
        </p:nvSpPr>
        <p:spPr>
          <a:xfrm>
            <a:off x="469900" y="723900"/>
            <a:ext cx="8623300" cy="400110"/>
          </a:xfrm>
          <a:prstGeom prst="rect">
            <a:avLst/>
          </a:prstGeom>
          <a:noFill/>
        </p:spPr>
        <p:txBody>
          <a:bodyPr wrap="square" rtlCol="0">
            <a:spAutoFit/>
          </a:bodyPr>
          <a:lstStyle/>
          <a:p>
            <a:r>
              <a:rPr lang="en-IN" sz="2000" dirty="0"/>
              <a:t>5. </a:t>
            </a:r>
            <a:r>
              <a:rPr lang="en-IN" sz="2000" b="1" dirty="0"/>
              <a:t>Show </a:t>
            </a:r>
            <a:r>
              <a:rPr lang="en-IN" sz="2000" b="1" dirty="0" err="1"/>
              <a:t>order_id</a:t>
            </a:r>
            <a:r>
              <a:rPr lang="en-IN" sz="2000" b="1" dirty="0"/>
              <a:t> and total pizzas ordered in each order.</a:t>
            </a:r>
            <a:endParaRPr lang="en-IN" sz="2000" dirty="0"/>
          </a:p>
        </p:txBody>
      </p:sp>
      <p:sp>
        <p:nvSpPr>
          <p:cNvPr id="3" name="TextBox 2">
            <a:extLst>
              <a:ext uri="{FF2B5EF4-FFF2-40B4-BE49-F238E27FC236}">
                <a16:creationId xmlns:a16="http://schemas.microsoft.com/office/drawing/2014/main" id="{23F5B08B-A191-05C4-6653-B6FCD3F7A0A3}"/>
              </a:ext>
            </a:extLst>
          </p:cNvPr>
          <p:cNvSpPr txBox="1"/>
          <p:nvPr/>
        </p:nvSpPr>
        <p:spPr>
          <a:xfrm>
            <a:off x="825500" y="1260842"/>
            <a:ext cx="7454900" cy="1631216"/>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select</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order_id</a:t>
            </a:r>
            <a:r>
              <a:rPr lang="en-US" sz="1800" dirty="0">
                <a:solidFill>
                  <a:srgbClr val="000000"/>
                </a:solidFill>
                <a:effectLst/>
                <a:latin typeface="Cascadia Mono" panose="020B0609020000020004" pitchFamily="49" charset="0"/>
              </a:rPr>
              <a:t> </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sum</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quantity</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total_pizzas</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order_details</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group</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order_id</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order</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order_id</a:t>
            </a:r>
            <a:endParaRPr lang="en-US"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701789A5-C1A5-AED4-0254-860066396FA2}"/>
              </a:ext>
            </a:extLst>
          </p:cNvPr>
          <p:cNvSpPr txBox="1"/>
          <p:nvPr/>
        </p:nvSpPr>
        <p:spPr>
          <a:xfrm>
            <a:off x="711200" y="3028890"/>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7FFD9A92-A221-FB5B-0AB1-EE3C1957F372}"/>
              </a:ext>
            </a:extLst>
          </p:cNvPr>
          <p:cNvPicPr>
            <a:picLocks noChangeAspect="1"/>
          </p:cNvPicPr>
          <p:nvPr/>
        </p:nvPicPr>
        <p:blipFill>
          <a:blip r:embed="rId2"/>
          <a:stretch>
            <a:fillRect/>
          </a:stretch>
        </p:blipFill>
        <p:spPr>
          <a:xfrm>
            <a:off x="3119330" y="3060580"/>
            <a:ext cx="2044700" cy="3643256"/>
          </a:xfrm>
          <a:prstGeom prst="rect">
            <a:avLst/>
          </a:prstGeom>
          <a:ln>
            <a:solidFill>
              <a:schemeClr val="tx1">
                <a:lumMod val="65000"/>
                <a:lumOff val="35000"/>
              </a:schemeClr>
            </a:solidFill>
          </a:ln>
        </p:spPr>
      </p:pic>
      <p:sp>
        <p:nvSpPr>
          <p:cNvPr id="7" name="TextBox 6">
            <a:extLst>
              <a:ext uri="{FF2B5EF4-FFF2-40B4-BE49-F238E27FC236}">
                <a16:creationId xmlns:a16="http://schemas.microsoft.com/office/drawing/2014/main" id="{E8844171-9CD0-A903-897C-5B815FDC8EE7}"/>
              </a:ext>
            </a:extLst>
          </p:cNvPr>
          <p:cNvSpPr txBox="1"/>
          <p:nvPr/>
        </p:nvSpPr>
        <p:spPr>
          <a:xfrm>
            <a:off x="5880100" y="5349619"/>
            <a:ext cx="4614970" cy="1354217"/>
          </a:xfrm>
          <a:prstGeom prst="rect">
            <a:avLst/>
          </a:prstGeom>
          <a:noFill/>
        </p:spPr>
        <p:txBody>
          <a:bodyPr wrap="square" rtlCol="0">
            <a:spAutoFit/>
          </a:bodyPr>
          <a:lstStyle/>
          <a:p>
            <a:r>
              <a:rPr lang="en-US" b="1" dirty="0">
                <a:latin typeface="Aptos" panose="020B0004020202020204" pitchFamily="34" charset="0"/>
              </a:rPr>
              <a:t>Note:</a:t>
            </a:r>
            <a:r>
              <a:rPr lang="en-US" dirty="0">
                <a:latin typeface="Aptos" panose="020B0004020202020204" pitchFamily="34" charset="0"/>
              </a:rPr>
              <a:t> </a:t>
            </a:r>
            <a:r>
              <a:rPr lang="en-US" sz="1600" dirty="0">
                <a:latin typeface="Aptos" panose="020B0004020202020204" pitchFamily="34" charset="0"/>
              </a:rPr>
              <a:t>The SQL query successfully executed and returned </a:t>
            </a:r>
            <a:r>
              <a:rPr lang="en-US" sz="1600" b="1" dirty="0">
                <a:latin typeface="Aptos" panose="020B0004020202020204" pitchFamily="34" charset="0"/>
              </a:rPr>
              <a:t>all 21,350 rows</a:t>
            </a:r>
            <a:r>
              <a:rPr lang="en-US" sz="1600" dirty="0">
                <a:latin typeface="Aptos" panose="020B0004020202020204" pitchFamily="34" charset="0"/>
              </a:rPr>
              <a:t> (representing the complete annual dataset). For presentation clarity and to save slide space, only the top snapshot of the results table is shown here.</a:t>
            </a:r>
            <a:endParaRPr lang="en-IN" dirty="0">
              <a:latin typeface="Aptos" panose="020B0004020202020204" pitchFamily="34" charset="0"/>
            </a:endParaRPr>
          </a:p>
        </p:txBody>
      </p:sp>
    </p:spTree>
    <p:extLst>
      <p:ext uri="{BB962C8B-B14F-4D97-AF65-F5344CB8AC3E}">
        <p14:creationId xmlns:p14="http://schemas.microsoft.com/office/powerpoint/2010/main" val="463659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4D9DB1-7330-84DA-FA40-044D263437D3}"/>
              </a:ext>
            </a:extLst>
          </p:cNvPr>
          <p:cNvSpPr txBox="1"/>
          <p:nvPr/>
        </p:nvSpPr>
        <p:spPr>
          <a:xfrm>
            <a:off x="406400" y="743010"/>
            <a:ext cx="8623300" cy="400110"/>
          </a:xfrm>
          <a:prstGeom prst="rect">
            <a:avLst/>
          </a:prstGeom>
          <a:noFill/>
        </p:spPr>
        <p:txBody>
          <a:bodyPr wrap="square" rtlCol="0">
            <a:spAutoFit/>
          </a:bodyPr>
          <a:lstStyle/>
          <a:p>
            <a:r>
              <a:rPr lang="en-IN" sz="2000" b="1" dirty="0"/>
              <a:t>6. Find the number of orders placed in each hour of the day.</a:t>
            </a:r>
            <a:endParaRPr lang="en-IN" sz="2400" dirty="0"/>
          </a:p>
        </p:txBody>
      </p:sp>
      <p:sp>
        <p:nvSpPr>
          <p:cNvPr id="3" name="TextBox 2">
            <a:extLst>
              <a:ext uri="{FF2B5EF4-FFF2-40B4-BE49-F238E27FC236}">
                <a16:creationId xmlns:a16="http://schemas.microsoft.com/office/drawing/2014/main" id="{F2B57948-8C5A-145F-9892-05618742BAC2}"/>
              </a:ext>
            </a:extLst>
          </p:cNvPr>
          <p:cNvSpPr txBox="1"/>
          <p:nvPr/>
        </p:nvSpPr>
        <p:spPr>
          <a:xfrm>
            <a:off x="711200" y="1283097"/>
            <a:ext cx="7454900" cy="1631216"/>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select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DATEPART</a:t>
            </a:r>
            <a:r>
              <a:rPr lang="en-US" sz="1800" dirty="0">
                <a:solidFill>
                  <a:srgbClr val="808080"/>
                </a:solidFill>
                <a:effectLst/>
                <a:latin typeface="Cascadia Mono" panose="020B0609020000020004" pitchFamily="49" charset="0"/>
              </a:rPr>
              <a:t>(</a:t>
            </a:r>
            <a:r>
              <a:rPr lang="en-US" sz="1800" dirty="0" err="1">
                <a:solidFill>
                  <a:srgbClr val="FF00FF"/>
                </a:solidFill>
                <a:effectLst/>
                <a:latin typeface="Cascadia Mono" panose="020B0609020000020004" pitchFamily="49" charset="0"/>
              </a:rPr>
              <a:t>HOUR</a:t>
            </a:r>
            <a:r>
              <a:rPr lang="en-US" sz="1800" dirty="0" err="1">
                <a:solidFill>
                  <a:srgbClr val="808080"/>
                </a:solidFill>
                <a:effectLst/>
                <a:latin typeface="Cascadia Mono" panose="020B0609020000020004" pitchFamily="49" charset="0"/>
              </a:rPr>
              <a:t>,</a:t>
            </a:r>
            <a:r>
              <a:rPr lang="en-US" sz="1800" dirty="0" err="1">
                <a:solidFill>
                  <a:srgbClr val="0000FF"/>
                </a:solidFill>
                <a:effectLst/>
                <a:latin typeface="Cascadia Mono" panose="020B0609020000020004" pitchFamily="49" charset="0"/>
              </a:rPr>
              <a:t>time</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HOURS</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count</a:t>
            </a:r>
            <a:r>
              <a:rPr lang="en-US" sz="1800" dirty="0">
                <a:solidFill>
                  <a:srgbClr val="808080"/>
                </a:solidFill>
                <a:effectLst/>
                <a:latin typeface="Cascadia Mono" panose="020B0609020000020004" pitchFamily="49" charset="0"/>
              </a:rPr>
              <a:t>(</a:t>
            </a:r>
            <a:r>
              <a:rPr lang="en-US" sz="1800" dirty="0" err="1">
                <a:solidFill>
                  <a:srgbClr val="000000"/>
                </a:solidFill>
                <a:effectLst/>
                <a:latin typeface="Cascadia Mono" panose="020B0609020000020004" pitchFamily="49" charset="0"/>
              </a:rPr>
              <a:t>order_id</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total_order</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orders</a:t>
            </a:r>
          </a:p>
          <a:p>
            <a:pPr>
              <a:buNone/>
            </a:pPr>
            <a:r>
              <a:rPr lang="en-US" sz="1800" dirty="0">
                <a:solidFill>
                  <a:srgbClr val="0000FF"/>
                </a:solidFill>
                <a:effectLst/>
                <a:latin typeface="Cascadia Mono" panose="020B0609020000020004" pitchFamily="49" charset="0"/>
              </a:rPr>
              <a:t>group</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DATEPART</a:t>
            </a:r>
            <a:r>
              <a:rPr lang="en-US" sz="1800" dirty="0">
                <a:solidFill>
                  <a:srgbClr val="808080"/>
                </a:solidFill>
                <a:effectLst/>
                <a:latin typeface="Cascadia Mono" panose="020B0609020000020004" pitchFamily="49" charset="0"/>
              </a:rPr>
              <a:t>(</a:t>
            </a:r>
            <a:r>
              <a:rPr lang="en-US" sz="1800" dirty="0" err="1">
                <a:solidFill>
                  <a:srgbClr val="FF00FF"/>
                </a:solidFill>
                <a:effectLst/>
                <a:latin typeface="Cascadia Mono" panose="020B0609020000020004" pitchFamily="49" charset="0"/>
              </a:rPr>
              <a:t>HOUR</a:t>
            </a:r>
            <a:r>
              <a:rPr lang="en-US" sz="1800" dirty="0" err="1">
                <a:solidFill>
                  <a:srgbClr val="808080"/>
                </a:solidFill>
                <a:effectLst/>
                <a:latin typeface="Cascadia Mono" panose="020B0609020000020004" pitchFamily="49" charset="0"/>
              </a:rPr>
              <a:t>,</a:t>
            </a:r>
            <a:r>
              <a:rPr lang="en-US" sz="1800" dirty="0" err="1">
                <a:solidFill>
                  <a:srgbClr val="0000FF"/>
                </a:solidFill>
                <a:effectLst/>
                <a:latin typeface="Cascadia Mono" panose="020B0609020000020004" pitchFamily="49" charset="0"/>
              </a:rPr>
              <a:t>time</a:t>
            </a:r>
            <a:r>
              <a:rPr lang="en-US" sz="1800" dirty="0">
                <a:solidFill>
                  <a:srgbClr val="808080"/>
                </a:solidFill>
                <a:effectLst/>
                <a:latin typeface="Cascadia Mono" panose="020B0609020000020004" pitchFamily="49" charset="0"/>
              </a:rPr>
              <a:t>)</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order</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HOURS</a:t>
            </a:r>
            <a:endParaRPr lang="en-US"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D1531274-4AE4-C5F9-68B2-0CA90B98E06D}"/>
              </a:ext>
            </a:extLst>
          </p:cNvPr>
          <p:cNvSpPr txBox="1"/>
          <p:nvPr/>
        </p:nvSpPr>
        <p:spPr>
          <a:xfrm>
            <a:off x="711200" y="3028890"/>
            <a:ext cx="1155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95B2253C-2F7B-5124-75D4-6C01DA14AC85}"/>
              </a:ext>
            </a:extLst>
          </p:cNvPr>
          <p:cNvPicPr>
            <a:picLocks noChangeAspect="1"/>
          </p:cNvPicPr>
          <p:nvPr/>
        </p:nvPicPr>
        <p:blipFill>
          <a:blip r:embed="rId2"/>
          <a:stretch>
            <a:fillRect/>
          </a:stretch>
        </p:blipFill>
        <p:spPr>
          <a:xfrm>
            <a:off x="2322409" y="3364946"/>
            <a:ext cx="2544126" cy="3359763"/>
          </a:xfrm>
          <a:prstGeom prst="rect">
            <a:avLst/>
          </a:prstGeom>
          <a:ln>
            <a:solidFill>
              <a:schemeClr val="tx2">
                <a:lumMod val="50000"/>
              </a:schemeClr>
            </a:solidFill>
          </a:ln>
        </p:spPr>
      </p:pic>
      <p:pic>
        <p:nvPicPr>
          <p:cNvPr id="9" name="Picture 8">
            <a:extLst>
              <a:ext uri="{FF2B5EF4-FFF2-40B4-BE49-F238E27FC236}">
                <a16:creationId xmlns:a16="http://schemas.microsoft.com/office/drawing/2014/main" id="{37EF182C-4987-1DAF-6060-4B9935B41180}"/>
              </a:ext>
            </a:extLst>
          </p:cNvPr>
          <p:cNvPicPr>
            <a:picLocks noChangeAspect="1"/>
          </p:cNvPicPr>
          <p:nvPr/>
        </p:nvPicPr>
        <p:blipFill>
          <a:blip r:embed="rId3"/>
          <a:stretch>
            <a:fillRect/>
          </a:stretch>
        </p:blipFill>
        <p:spPr>
          <a:xfrm>
            <a:off x="5821065" y="3364946"/>
            <a:ext cx="5278735" cy="3117642"/>
          </a:xfrm>
          <a:prstGeom prst="rect">
            <a:avLst/>
          </a:prstGeom>
          <a:ln>
            <a:solidFill>
              <a:schemeClr val="tx1">
                <a:lumMod val="65000"/>
                <a:lumOff val="35000"/>
              </a:schemeClr>
            </a:solidFill>
          </a:ln>
        </p:spPr>
      </p:pic>
    </p:spTree>
    <p:extLst>
      <p:ext uri="{BB962C8B-B14F-4D97-AF65-F5344CB8AC3E}">
        <p14:creationId xmlns:p14="http://schemas.microsoft.com/office/powerpoint/2010/main" val="7026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225E4B-F41E-74C7-F414-8EB2CEEA9F42}"/>
              </a:ext>
            </a:extLst>
          </p:cNvPr>
          <p:cNvSpPr txBox="1"/>
          <p:nvPr/>
        </p:nvSpPr>
        <p:spPr>
          <a:xfrm>
            <a:off x="469900" y="723900"/>
            <a:ext cx="9271000" cy="369332"/>
          </a:xfrm>
          <a:prstGeom prst="rect">
            <a:avLst/>
          </a:prstGeom>
          <a:noFill/>
        </p:spPr>
        <p:txBody>
          <a:bodyPr wrap="square" rtlCol="0">
            <a:spAutoFit/>
          </a:bodyPr>
          <a:lstStyle/>
          <a:p>
            <a:r>
              <a:rPr lang="en-IN" b="1" dirty="0"/>
              <a:t>7. Find the day of the week on which the maximum number of orders were placed.</a:t>
            </a:r>
            <a:endParaRPr lang="en-IN" sz="2000" dirty="0"/>
          </a:p>
        </p:txBody>
      </p:sp>
      <p:sp>
        <p:nvSpPr>
          <p:cNvPr id="3" name="TextBox 2">
            <a:extLst>
              <a:ext uri="{FF2B5EF4-FFF2-40B4-BE49-F238E27FC236}">
                <a16:creationId xmlns:a16="http://schemas.microsoft.com/office/drawing/2014/main" id="{38F37CEE-BCA2-E345-75BA-FB8992F3F3ED}"/>
              </a:ext>
            </a:extLst>
          </p:cNvPr>
          <p:cNvSpPr txBox="1"/>
          <p:nvPr/>
        </p:nvSpPr>
        <p:spPr>
          <a:xfrm>
            <a:off x="768350" y="1345480"/>
            <a:ext cx="7454900" cy="1631216"/>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select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top</a:t>
            </a:r>
            <a:r>
              <a:rPr lang="en-US" sz="1800" dirty="0">
                <a:solidFill>
                  <a:srgbClr val="000000"/>
                </a:solidFill>
                <a:effectLst/>
                <a:latin typeface="Cascadia Mono" panose="020B0609020000020004" pitchFamily="49" charset="0"/>
              </a:rPr>
              <a:t> 1 </a:t>
            </a:r>
            <a:r>
              <a:rPr lang="en-US" sz="1800" dirty="0" err="1">
                <a:solidFill>
                  <a:srgbClr val="FF00FF"/>
                </a:solidFill>
                <a:effectLst/>
                <a:latin typeface="Cascadia Mono" panose="020B0609020000020004" pitchFamily="49" charset="0"/>
              </a:rPr>
              <a:t>datename</a:t>
            </a:r>
            <a:r>
              <a:rPr lang="en-US" sz="1800" dirty="0">
                <a:solidFill>
                  <a:srgbClr val="808080"/>
                </a:solidFill>
                <a:effectLst/>
                <a:latin typeface="Cascadia Mono" panose="020B0609020000020004" pitchFamily="49" charset="0"/>
              </a:rPr>
              <a:t>(</a:t>
            </a:r>
            <a:r>
              <a:rPr lang="en-US" sz="1800" dirty="0" err="1">
                <a:solidFill>
                  <a:srgbClr val="0000FF"/>
                </a:solidFill>
                <a:effectLst/>
                <a:latin typeface="Cascadia Mono" panose="020B0609020000020004" pitchFamily="49" charset="0"/>
              </a:rPr>
              <a:t>WEEKDAY</a:t>
            </a:r>
            <a:r>
              <a:rPr lang="en-US" sz="1800" dirty="0" err="1">
                <a:solidFill>
                  <a:srgbClr val="808080"/>
                </a:solidFill>
                <a:effectLst/>
                <a:latin typeface="Cascadia Mono" panose="020B0609020000020004" pitchFamily="49" charset="0"/>
              </a:rPr>
              <a:t>,</a:t>
            </a:r>
            <a:r>
              <a:rPr lang="en-US" sz="1800" dirty="0" err="1">
                <a:solidFill>
                  <a:srgbClr val="0000FF"/>
                </a:solidFill>
                <a:effectLst/>
                <a:latin typeface="Cascadia Mono" panose="020B0609020000020004" pitchFamily="49" charset="0"/>
              </a:rPr>
              <a:t>date</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day</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count</a:t>
            </a:r>
            <a:r>
              <a:rPr lang="en-US" sz="1800" dirty="0">
                <a:solidFill>
                  <a:srgbClr val="808080"/>
                </a:solidFill>
                <a:effectLst/>
                <a:latin typeface="Cascadia Mono" panose="020B0609020000020004" pitchFamily="49" charset="0"/>
              </a:rPr>
              <a:t>(</a:t>
            </a:r>
            <a:r>
              <a:rPr lang="en-US" sz="1800" dirty="0" err="1">
                <a:solidFill>
                  <a:srgbClr val="000000"/>
                </a:solidFill>
                <a:effectLst/>
                <a:latin typeface="Cascadia Mono" panose="020B0609020000020004" pitchFamily="49" charset="0"/>
              </a:rPr>
              <a:t>order_id</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no_of_orders</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orders</a:t>
            </a:r>
          </a:p>
          <a:p>
            <a:pPr>
              <a:buNone/>
            </a:pPr>
            <a:r>
              <a:rPr lang="en-US" sz="1800" dirty="0">
                <a:solidFill>
                  <a:srgbClr val="0000FF"/>
                </a:solidFill>
                <a:effectLst/>
                <a:latin typeface="Cascadia Mono" panose="020B0609020000020004" pitchFamily="49" charset="0"/>
              </a:rPr>
              <a:t>group</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err="1">
                <a:solidFill>
                  <a:srgbClr val="FF00FF"/>
                </a:solidFill>
                <a:effectLst/>
                <a:latin typeface="Cascadia Mono" panose="020B0609020000020004" pitchFamily="49" charset="0"/>
              </a:rPr>
              <a:t>datename</a:t>
            </a:r>
            <a:r>
              <a:rPr lang="en-US" sz="1800" dirty="0">
                <a:solidFill>
                  <a:srgbClr val="808080"/>
                </a:solidFill>
                <a:effectLst/>
                <a:latin typeface="Cascadia Mono" panose="020B0609020000020004" pitchFamily="49" charset="0"/>
              </a:rPr>
              <a:t>(</a:t>
            </a:r>
            <a:r>
              <a:rPr lang="en-US" sz="1800" dirty="0" err="1">
                <a:solidFill>
                  <a:srgbClr val="0000FF"/>
                </a:solidFill>
                <a:effectLst/>
                <a:latin typeface="Cascadia Mono" panose="020B0609020000020004" pitchFamily="49" charset="0"/>
              </a:rPr>
              <a:t>WEEKday</a:t>
            </a:r>
            <a:r>
              <a:rPr lang="en-US" sz="1800" dirty="0" err="1">
                <a:solidFill>
                  <a:srgbClr val="808080"/>
                </a:solidFill>
                <a:effectLst/>
                <a:latin typeface="Cascadia Mono" panose="020B0609020000020004" pitchFamily="49" charset="0"/>
              </a:rPr>
              <a:t>,</a:t>
            </a:r>
            <a:r>
              <a:rPr lang="en-US" sz="1800" dirty="0" err="1">
                <a:solidFill>
                  <a:srgbClr val="0000FF"/>
                </a:solidFill>
                <a:effectLst/>
                <a:latin typeface="Cascadia Mono" panose="020B0609020000020004" pitchFamily="49" charset="0"/>
              </a:rPr>
              <a:t>date</a:t>
            </a:r>
            <a:r>
              <a:rPr lang="en-US" sz="1800" dirty="0">
                <a:solidFill>
                  <a:srgbClr val="808080"/>
                </a:solidFill>
                <a:effectLst/>
                <a:latin typeface="Cascadia Mono" panose="020B0609020000020004" pitchFamily="49" charset="0"/>
              </a:rPr>
              <a:t>)</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order</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no_of_orders</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desc</a:t>
            </a:r>
            <a:endParaRPr lang="en-US"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84A0E005-950F-D79F-4794-FD96FD9E9E0B}"/>
              </a:ext>
            </a:extLst>
          </p:cNvPr>
          <p:cNvSpPr txBox="1"/>
          <p:nvPr/>
        </p:nvSpPr>
        <p:spPr>
          <a:xfrm>
            <a:off x="768350" y="3351315"/>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149559EF-D354-E168-AA6F-83E71FC97DCC}"/>
              </a:ext>
            </a:extLst>
          </p:cNvPr>
          <p:cNvPicPr>
            <a:picLocks noChangeAspect="1"/>
          </p:cNvPicPr>
          <p:nvPr/>
        </p:nvPicPr>
        <p:blipFill>
          <a:blip r:embed="rId2"/>
          <a:stretch>
            <a:fillRect/>
          </a:stretch>
        </p:blipFill>
        <p:spPr>
          <a:xfrm>
            <a:off x="2368440" y="3894005"/>
            <a:ext cx="3424525" cy="908665"/>
          </a:xfrm>
          <a:prstGeom prst="rect">
            <a:avLst/>
          </a:prstGeom>
          <a:ln>
            <a:solidFill>
              <a:schemeClr val="tx2">
                <a:lumMod val="50000"/>
              </a:schemeClr>
            </a:solidFill>
          </a:ln>
        </p:spPr>
      </p:pic>
      <p:pic>
        <p:nvPicPr>
          <p:cNvPr id="7" name="Picture 6">
            <a:extLst>
              <a:ext uri="{FF2B5EF4-FFF2-40B4-BE49-F238E27FC236}">
                <a16:creationId xmlns:a16="http://schemas.microsoft.com/office/drawing/2014/main" id="{D3BB08CF-AFE3-3F32-9CD7-BA537D8231A5}"/>
              </a:ext>
            </a:extLst>
          </p:cNvPr>
          <p:cNvPicPr>
            <a:picLocks noChangeAspect="1"/>
          </p:cNvPicPr>
          <p:nvPr/>
        </p:nvPicPr>
        <p:blipFill>
          <a:blip r:embed="rId3"/>
          <a:srcRect l="954" t="531" r="1823"/>
          <a:stretch>
            <a:fillRect/>
          </a:stretch>
        </p:blipFill>
        <p:spPr>
          <a:xfrm>
            <a:off x="6565899" y="2950680"/>
            <a:ext cx="4064001" cy="3183420"/>
          </a:xfrm>
          <a:prstGeom prst="rect">
            <a:avLst/>
          </a:prstGeom>
          <a:ln>
            <a:solidFill>
              <a:schemeClr val="tx1">
                <a:lumMod val="65000"/>
                <a:lumOff val="35000"/>
              </a:schemeClr>
            </a:solidFill>
          </a:ln>
        </p:spPr>
      </p:pic>
    </p:spTree>
    <p:extLst>
      <p:ext uri="{BB962C8B-B14F-4D97-AF65-F5344CB8AC3E}">
        <p14:creationId xmlns:p14="http://schemas.microsoft.com/office/powerpoint/2010/main" val="1368361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CBA709-467C-16FE-8D9C-6982E76C85AF}"/>
              </a:ext>
            </a:extLst>
          </p:cNvPr>
          <p:cNvSpPr txBox="1"/>
          <p:nvPr/>
        </p:nvSpPr>
        <p:spPr>
          <a:xfrm>
            <a:off x="469900" y="723900"/>
            <a:ext cx="8623300" cy="400110"/>
          </a:xfrm>
          <a:prstGeom prst="rect">
            <a:avLst/>
          </a:prstGeom>
          <a:noFill/>
        </p:spPr>
        <p:txBody>
          <a:bodyPr wrap="square" rtlCol="0">
            <a:spAutoFit/>
          </a:bodyPr>
          <a:lstStyle/>
          <a:p>
            <a:r>
              <a:rPr lang="en-IN" sz="2000" dirty="0"/>
              <a:t>8. </a:t>
            </a:r>
            <a:r>
              <a:rPr lang="en-IN" b="1" dirty="0"/>
              <a:t>Find the earliest and latest order time for each day.</a:t>
            </a:r>
            <a:endParaRPr lang="en-IN" sz="2000" dirty="0"/>
          </a:p>
        </p:txBody>
      </p:sp>
      <p:sp>
        <p:nvSpPr>
          <p:cNvPr id="3" name="TextBox 2">
            <a:extLst>
              <a:ext uri="{FF2B5EF4-FFF2-40B4-BE49-F238E27FC236}">
                <a16:creationId xmlns:a16="http://schemas.microsoft.com/office/drawing/2014/main" id="{D20499BF-8FA0-B689-7DAC-C17F8788A840}"/>
              </a:ext>
            </a:extLst>
          </p:cNvPr>
          <p:cNvSpPr txBox="1"/>
          <p:nvPr/>
        </p:nvSpPr>
        <p:spPr>
          <a:xfrm>
            <a:off x="711200" y="1143120"/>
            <a:ext cx="7454900" cy="1631216"/>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select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date</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min</a:t>
            </a:r>
            <a:r>
              <a:rPr lang="en-US" sz="1800" dirty="0">
                <a:solidFill>
                  <a:srgbClr val="808080"/>
                </a:solidFill>
                <a:effectLst/>
                <a:latin typeface="Cascadia Mono" panose="020B0609020000020004" pitchFamily="49" charset="0"/>
              </a:rPr>
              <a:t>(</a:t>
            </a:r>
            <a:r>
              <a:rPr lang="en-US" sz="1800" dirty="0">
                <a:solidFill>
                  <a:srgbClr val="0000FF"/>
                </a:solidFill>
                <a:effectLst/>
                <a:latin typeface="Cascadia Mono" panose="020B0609020000020004" pitchFamily="49" charset="0"/>
              </a:rPr>
              <a:t>time</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earliest</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max</a:t>
            </a:r>
            <a:r>
              <a:rPr lang="en-US" sz="1800" dirty="0">
                <a:solidFill>
                  <a:srgbClr val="808080"/>
                </a:solidFill>
                <a:effectLst/>
                <a:latin typeface="Cascadia Mono" panose="020B0609020000020004" pitchFamily="49" charset="0"/>
              </a:rPr>
              <a:t>(</a:t>
            </a:r>
            <a:r>
              <a:rPr lang="en-US" sz="1800" dirty="0">
                <a:solidFill>
                  <a:srgbClr val="0000FF"/>
                </a:solidFill>
                <a:effectLst/>
                <a:latin typeface="Cascadia Mono" panose="020B0609020000020004" pitchFamily="49" charset="0"/>
              </a:rPr>
              <a:t>time</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latest </a:t>
            </a: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orders</a:t>
            </a:r>
          </a:p>
          <a:p>
            <a:pPr>
              <a:buNone/>
            </a:pPr>
            <a:r>
              <a:rPr lang="en-US" sz="1800" dirty="0">
                <a:solidFill>
                  <a:srgbClr val="0000FF"/>
                </a:solidFill>
                <a:effectLst/>
                <a:latin typeface="Cascadia Mono" panose="020B0609020000020004" pitchFamily="49" charset="0"/>
              </a:rPr>
              <a:t>group</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date</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order</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date</a:t>
            </a:r>
            <a:endParaRPr lang="en-US"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19B66218-E938-1C94-91F4-F9A11C55F6B3}"/>
              </a:ext>
            </a:extLst>
          </p:cNvPr>
          <p:cNvSpPr txBox="1"/>
          <p:nvPr/>
        </p:nvSpPr>
        <p:spPr>
          <a:xfrm>
            <a:off x="711200" y="2964836"/>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771164E4-4270-EA25-2DC3-C7FFAF87796E}"/>
              </a:ext>
            </a:extLst>
          </p:cNvPr>
          <p:cNvPicPr>
            <a:picLocks noChangeAspect="1"/>
          </p:cNvPicPr>
          <p:nvPr/>
        </p:nvPicPr>
        <p:blipFill>
          <a:blip r:embed="rId2"/>
          <a:stretch>
            <a:fillRect/>
          </a:stretch>
        </p:blipFill>
        <p:spPr>
          <a:xfrm>
            <a:off x="1838114" y="2964836"/>
            <a:ext cx="2987196" cy="3550818"/>
          </a:xfrm>
          <a:prstGeom prst="rect">
            <a:avLst/>
          </a:prstGeom>
          <a:ln>
            <a:solidFill>
              <a:schemeClr val="tx1">
                <a:lumMod val="65000"/>
                <a:lumOff val="35000"/>
              </a:schemeClr>
            </a:solidFill>
          </a:ln>
        </p:spPr>
      </p:pic>
      <p:pic>
        <p:nvPicPr>
          <p:cNvPr id="8" name="Picture 7">
            <a:extLst>
              <a:ext uri="{FF2B5EF4-FFF2-40B4-BE49-F238E27FC236}">
                <a16:creationId xmlns:a16="http://schemas.microsoft.com/office/drawing/2014/main" id="{3421AA79-DF6E-E025-2A2A-AFF18F31E1DD}"/>
              </a:ext>
            </a:extLst>
          </p:cNvPr>
          <p:cNvPicPr>
            <a:picLocks noChangeAspect="1"/>
          </p:cNvPicPr>
          <p:nvPr/>
        </p:nvPicPr>
        <p:blipFill>
          <a:blip r:embed="rId3"/>
          <a:stretch>
            <a:fillRect/>
          </a:stretch>
        </p:blipFill>
        <p:spPr>
          <a:xfrm>
            <a:off x="5212938" y="2876596"/>
            <a:ext cx="2953162" cy="3639058"/>
          </a:xfrm>
          <a:prstGeom prst="rect">
            <a:avLst/>
          </a:prstGeom>
          <a:ln>
            <a:solidFill>
              <a:schemeClr val="tx1">
                <a:lumMod val="65000"/>
                <a:lumOff val="35000"/>
              </a:schemeClr>
            </a:solidFill>
          </a:ln>
        </p:spPr>
      </p:pic>
      <p:pic>
        <p:nvPicPr>
          <p:cNvPr id="10" name="Picture 9">
            <a:extLst>
              <a:ext uri="{FF2B5EF4-FFF2-40B4-BE49-F238E27FC236}">
                <a16:creationId xmlns:a16="http://schemas.microsoft.com/office/drawing/2014/main" id="{59D40CE4-D265-CB49-F614-5A6DA5C15A5E}"/>
              </a:ext>
            </a:extLst>
          </p:cNvPr>
          <p:cNvPicPr>
            <a:picLocks noChangeAspect="1"/>
          </p:cNvPicPr>
          <p:nvPr/>
        </p:nvPicPr>
        <p:blipFill>
          <a:blip r:embed="rId4"/>
          <a:stretch>
            <a:fillRect/>
          </a:stretch>
        </p:blipFill>
        <p:spPr>
          <a:xfrm>
            <a:off x="8696191" y="2876596"/>
            <a:ext cx="1657695" cy="961463"/>
          </a:xfrm>
          <a:prstGeom prst="rect">
            <a:avLst/>
          </a:prstGeom>
        </p:spPr>
      </p:pic>
      <p:pic>
        <p:nvPicPr>
          <p:cNvPr id="12" name="Picture 11">
            <a:extLst>
              <a:ext uri="{FF2B5EF4-FFF2-40B4-BE49-F238E27FC236}">
                <a16:creationId xmlns:a16="http://schemas.microsoft.com/office/drawing/2014/main" id="{C8A7B286-8109-083A-F40A-04C8FDA82504}"/>
              </a:ext>
            </a:extLst>
          </p:cNvPr>
          <p:cNvPicPr>
            <a:picLocks noChangeAspect="1"/>
          </p:cNvPicPr>
          <p:nvPr/>
        </p:nvPicPr>
        <p:blipFill>
          <a:blip r:embed="rId5"/>
          <a:stretch>
            <a:fillRect/>
          </a:stretch>
        </p:blipFill>
        <p:spPr>
          <a:xfrm>
            <a:off x="10353886" y="2788158"/>
            <a:ext cx="1838114" cy="1153575"/>
          </a:xfrm>
          <a:prstGeom prst="rect">
            <a:avLst/>
          </a:prstGeom>
        </p:spPr>
      </p:pic>
      <p:sp>
        <p:nvSpPr>
          <p:cNvPr id="13" name="TextBox 12">
            <a:extLst>
              <a:ext uri="{FF2B5EF4-FFF2-40B4-BE49-F238E27FC236}">
                <a16:creationId xmlns:a16="http://schemas.microsoft.com/office/drawing/2014/main" id="{688C621C-6AF2-B7D7-6C18-57A73E21A0E9}"/>
              </a:ext>
            </a:extLst>
          </p:cNvPr>
          <p:cNvSpPr txBox="1"/>
          <p:nvPr/>
        </p:nvSpPr>
        <p:spPr>
          <a:xfrm>
            <a:off x="8775777" y="4589362"/>
            <a:ext cx="2844800" cy="1938992"/>
          </a:xfrm>
          <a:prstGeom prst="rect">
            <a:avLst/>
          </a:prstGeom>
          <a:noFill/>
        </p:spPr>
        <p:txBody>
          <a:bodyPr wrap="square" rtlCol="0">
            <a:spAutoFit/>
          </a:bodyPr>
          <a:lstStyle/>
          <a:p>
            <a:pPr algn="just"/>
            <a:r>
              <a:rPr lang="en-US" sz="1200" b="1" dirty="0">
                <a:latin typeface="Aptos" panose="020B0004020202020204" pitchFamily="34" charset="0"/>
              </a:rPr>
              <a:t>Note:</a:t>
            </a:r>
            <a:r>
              <a:rPr lang="en-US" sz="1200" dirty="0">
                <a:latin typeface="Aptos" panose="020B0004020202020204" pitchFamily="34" charset="0"/>
              </a:rPr>
              <a:t> The SQL query successfully processed and generated the complete dataset of </a:t>
            </a:r>
            <a:r>
              <a:rPr lang="en-US" sz="1200" b="1" dirty="0">
                <a:latin typeface="Aptos" panose="020B0004020202020204" pitchFamily="34" charset="0"/>
              </a:rPr>
              <a:t>358 rows</a:t>
            </a:r>
            <a:r>
              <a:rPr lang="en-US" sz="1200" dirty="0">
                <a:latin typeface="Aptos" panose="020B0004020202020204" pitchFamily="34" charset="0"/>
              </a:rPr>
              <a:t> (representing every operational day of the year). To maintain presentation legibility, the tables above showcase a snapshot of the initial weeks, while the cards highlight the absolute earliest opening and latest closing timestamps found across the entire year</a:t>
            </a:r>
            <a:endParaRPr lang="en-IN" sz="1200" dirty="0">
              <a:latin typeface="Aptos" panose="020B0004020202020204" pitchFamily="34" charset="0"/>
            </a:endParaRPr>
          </a:p>
        </p:txBody>
      </p:sp>
    </p:spTree>
    <p:extLst>
      <p:ext uri="{BB962C8B-B14F-4D97-AF65-F5344CB8AC3E}">
        <p14:creationId xmlns:p14="http://schemas.microsoft.com/office/powerpoint/2010/main" val="3746700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EC3BBD-CC12-44DD-BB87-D1922D821695}"/>
              </a:ext>
            </a:extLst>
          </p:cNvPr>
          <p:cNvSpPr txBox="1"/>
          <p:nvPr/>
        </p:nvSpPr>
        <p:spPr>
          <a:xfrm>
            <a:off x="469900" y="723900"/>
            <a:ext cx="8623300" cy="369332"/>
          </a:xfrm>
          <a:prstGeom prst="rect">
            <a:avLst/>
          </a:prstGeom>
          <a:noFill/>
        </p:spPr>
        <p:txBody>
          <a:bodyPr wrap="square" rtlCol="0">
            <a:spAutoFit/>
          </a:bodyPr>
          <a:lstStyle/>
          <a:p>
            <a:pPr lvl="0"/>
            <a:r>
              <a:rPr lang="en-IN" b="1" dirty="0"/>
              <a:t>9. Find the total revenue generated from each pizza type.</a:t>
            </a:r>
            <a:endParaRPr lang="en-IN" dirty="0"/>
          </a:p>
        </p:txBody>
      </p:sp>
      <p:sp>
        <p:nvSpPr>
          <p:cNvPr id="3" name="TextBox 2">
            <a:extLst>
              <a:ext uri="{FF2B5EF4-FFF2-40B4-BE49-F238E27FC236}">
                <a16:creationId xmlns:a16="http://schemas.microsoft.com/office/drawing/2014/main" id="{327342A7-36E0-97FC-B4AC-44137FE50E33}"/>
              </a:ext>
            </a:extLst>
          </p:cNvPr>
          <p:cNvSpPr txBox="1"/>
          <p:nvPr/>
        </p:nvSpPr>
        <p:spPr>
          <a:xfrm>
            <a:off x="711200" y="1143120"/>
            <a:ext cx="7454900" cy="1908215"/>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select</a:t>
            </a:r>
            <a:r>
              <a:rPr lang="en-IN" sz="1800" dirty="0">
                <a:solidFill>
                  <a:srgbClr val="000000"/>
                </a:solidFill>
                <a:effectLst/>
                <a:latin typeface="Cascadia Mono" panose="020B0609020000020004" pitchFamily="49" charset="0"/>
              </a:rPr>
              <a:t> </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total_revenue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pt</a:t>
            </a:r>
            <a:r>
              <a:rPr lang="en-IN" sz="1800" dirty="0">
                <a:solidFill>
                  <a:srgbClr val="808080"/>
                </a:solidFill>
                <a:effectLst/>
                <a:latin typeface="Cascadia Mono" panose="020B0609020000020004" pitchFamily="49" charset="0"/>
              </a:rPr>
              <a:t>.</a:t>
            </a:r>
            <a:r>
              <a:rPr lang="en-IN" sz="1800" dirty="0">
                <a:solidFill>
                  <a:srgbClr val="0000FF"/>
                </a:solidFill>
                <a:effectLst/>
                <a:latin typeface="Cascadia Mono" panose="020B0609020000020004" pitchFamily="49" charset="0"/>
              </a:rPr>
              <a:t>name</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from</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Pizza_Types</a:t>
            </a:r>
            <a:r>
              <a:rPr lang="en-IN" sz="1800" dirty="0">
                <a:solidFill>
                  <a:srgbClr val="000000"/>
                </a:solidFill>
                <a:effectLst/>
                <a:latin typeface="Cascadia Mono" panose="020B0609020000020004" pitchFamily="49" charset="0"/>
              </a:rPr>
              <a:t> pt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Pizzas p </a:t>
            </a: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endParaRPr lang="en-IN" sz="1800" dirty="0">
              <a:solidFill>
                <a:srgbClr val="000000"/>
              </a:solidFill>
              <a:effectLst/>
              <a:latin typeface="Cascadia Mono" panose="020B0609020000020004" pitchFamily="49" charset="0"/>
            </a:endParaRPr>
          </a:p>
          <a:p>
            <a:pPr>
              <a:buNone/>
            </a:pP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order_details</a:t>
            </a:r>
            <a:r>
              <a:rPr lang="en-IN" sz="1800" dirty="0">
                <a:solidFill>
                  <a:srgbClr val="000000"/>
                </a:solidFill>
                <a:effectLst/>
                <a:latin typeface="Cascadia Mono" panose="020B0609020000020004" pitchFamily="49" charset="0"/>
              </a:rPr>
              <a:t> od </a:t>
            </a: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group</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pt</a:t>
            </a:r>
            <a:r>
              <a:rPr lang="en-IN" sz="1800" dirty="0">
                <a:solidFill>
                  <a:srgbClr val="808080"/>
                </a:solidFill>
                <a:effectLst/>
                <a:latin typeface="Cascadia Mono" panose="020B0609020000020004" pitchFamily="49" charset="0"/>
              </a:rPr>
              <a:t>.</a:t>
            </a:r>
            <a:r>
              <a:rPr lang="en-IN" sz="1800" dirty="0">
                <a:solidFill>
                  <a:srgbClr val="0000FF"/>
                </a:solidFill>
                <a:effectLst/>
                <a:latin typeface="Cascadia Mono" panose="020B0609020000020004" pitchFamily="49" charset="0"/>
              </a:rPr>
              <a:t>name</a:t>
            </a:r>
            <a:endParaRPr lang="en-IN"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CB5556B0-E0DA-D6E6-5171-D9AB4FB93426}"/>
              </a:ext>
            </a:extLst>
          </p:cNvPr>
          <p:cNvSpPr txBox="1"/>
          <p:nvPr/>
        </p:nvSpPr>
        <p:spPr>
          <a:xfrm>
            <a:off x="711200" y="3228945"/>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FD8E83FC-81F4-0430-195E-E676C7E64390}"/>
              </a:ext>
            </a:extLst>
          </p:cNvPr>
          <p:cNvPicPr>
            <a:picLocks noChangeAspect="1"/>
          </p:cNvPicPr>
          <p:nvPr/>
        </p:nvPicPr>
        <p:blipFill>
          <a:blip r:embed="rId2"/>
          <a:srcRect b="10390"/>
          <a:stretch>
            <a:fillRect/>
          </a:stretch>
        </p:blipFill>
        <p:spPr>
          <a:xfrm>
            <a:off x="2279434" y="3228945"/>
            <a:ext cx="3242387" cy="3066920"/>
          </a:xfrm>
          <a:prstGeom prst="rect">
            <a:avLst/>
          </a:prstGeom>
          <a:ln>
            <a:solidFill>
              <a:schemeClr val="tx2">
                <a:lumMod val="50000"/>
              </a:schemeClr>
            </a:solidFill>
          </a:ln>
        </p:spPr>
      </p:pic>
      <p:pic>
        <p:nvPicPr>
          <p:cNvPr id="8" name="Picture 7">
            <a:extLst>
              <a:ext uri="{FF2B5EF4-FFF2-40B4-BE49-F238E27FC236}">
                <a16:creationId xmlns:a16="http://schemas.microsoft.com/office/drawing/2014/main" id="{FC2C9AE7-736A-2090-CCF7-74676B7DEB3F}"/>
              </a:ext>
            </a:extLst>
          </p:cNvPr>
          <p:cNvPicPr>
            <a:picLocks noChangeAspect="1"/>
          </p:cNvPicPr>
          <p:nvPr/>
        </p:nvPicPr>
        <p:blipFill>
          <a:blip r:embed="rId3"/>
          <a:srcRect r="2216"/>
          <a:stretch>
            <a:fillRect/>
          </a:stretch>
        </p:blipFill>
        <p:spPr>
          <a:xfrm>
            <a:off x="6096000" y="3051335"/>
            <a:ext cx="3092671" cy="3238952"/>
          </a:xfrm>
          <a:prstGeom prst="rect">
            <a:avLst/>
          </a:prstGeom>
          <a:ln>
            <a:solidFill>
              <a:schemeClr val="tx2">
                <a:lumMod val="50000"/>
              </a:schemeClr>
            </a:solidFill>
          </a:ln>
        </p:spPr>
      </p:pic>
    </p:spTree>
    <p:extLst>
      <p:ext uri="{BB962C8B-B14F-4D97-AF65-F5344CB8AC3E}">
        <p14:creationId xmlns:p14="http://schemas.microsoft.com/office/powerpoint/2010/main" val="3178970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C5D48D-4300-DA43-5940-733A2E4B9833}"/>
              </a:ext>
            </a:extLst>
          </p:cNvPr>
          <p:cNvSpPr txBox="1"/>
          <p:nvPr/>
        </p:nvSpPr>
        <p:spPr>
          <a:xfrm>
            <a:off x="469900" y="736600"/>
            <a:ext cx="8966200" cy="707886"/>
          </a:xfrm>
          <a:prstGeom prst="rect">
            <a:avLst/>
          </a:prstGeom>
          <a:noFill/>
        </p:spPr>
        <p:txBody>
          <a:bodyPr wrap="square" rtlCol="0">
            <a:spAutoFit/>
          </a:bodyPr>
          <a:lstStyle/>
          <a:p>
            <a:r>
              <a:rPr lang="en-IN" sz="2000" dirty="0"/>
              <a:t>10.</a:t>
            </a:r>
            <a:r>
              <a:rPr lang="en-IN" b="1" dirty="0"/>
              <a:t> Which pizza category generated the maximum revenue?</a:t>
            </a:r>
            <a:endParaRPr lang="en-IN" dirty="0"/>
          </a:p>
          <a:p>
            <a:endParaRPr lang="en-IN" sz="2000" dirty="0"/>
          </a:p>
        </p:txBody>
      </p:sp>
      <p:sp>
        <p:nvSpPr>
          <p:cNvPr id="3" name="TextBox 2">
            <a:extLst>
              <a:ext uri="{FF2B5EF4-FFF2-40B4-BE49-F238E27FC236}">
                <a16:creationId xmlns:a16="http://schemas.microsoft.com/office/drawing/2014/main" id="{5027DC0F-07A7-BCA1-428E-FAFAB461300F}"/>
              </a:ext>
            </a:extLst>
          </p:cNvPr>
          <p:cNvSpPr txBox="1"/>
          <p:nvPr/>
        </p:nvSpPr>
        <p:spPr>
          <a:xfrm>
            <a:off x="838200" y="1274046"/>
            <a:ext cx="7454900" cy="2185214"/>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select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top</a:t>
            </a:r>
            <a:r>
              <a:rPr lang="en-IN" sz="1800" dirty="0">
                <a:solidFill>
                  <a:srgbClr val="000000"/>
                </a:solidFill>
                <a:effectLst/>
                <a:latin typeface="Cascadia Mono" panose="020B0609020000020004" pitchFamily="49" charset="0"/>
              </a:rPr>
              <a:t> 1 </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max_revenue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category</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from</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Pizza_Types</a:t>
            </a:r>
            <a:r>
              <a:rPr lang="en-IN" sz="1800" dirty="0">
                <a:solidFill>
                  <a:srgbClr val="000000"/>
                </a:solidFill>
                <a:effectLst/>
                <a:latin typeface="Cascadia Mono" panose="020B0609020000020004" pitchFamily="49" charset="0"/>
              </a:rPr>
              <a:t> pt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Pizzas p </a:t>
            </a: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endParaRPr lang="en-IN" sz="1800" dirty="0">
              <a:solidFill>
                <a:srgbClr val="000000"/>
              </a:solidFill>
              <a:effectLst/>
              <a:latin typeface="Cascadia Mono" panose="020B0609020000020004" pitchFamily="49" charset="0"/>
            </a:endParaRPr>
          </a:p>
          <a:p>
            <a:pPr>
              <a:buNone/>
            </a:pP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order_details</a:t>
            </a:r>
            <a:r>
              <a:rPr lang="en-IN" sz="1800" dirty="0">
                <a:solidFill>
                  <a:srgbClr val="000000"/>
                </a:solidFill>
                <a:effectLst/>
                <a:latin typeface="Cascadia Mono" panose="020B0609020000020004" pitchFamily="49" charset="0"/>
              </a:rPr>
              <a:t> od </a:t>
            </a: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group</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category</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order</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max_revenue</a:t>
            </a:r>
            <a:r>
              <a:rPr lang="en-IN" sz="1800" dirty="0">
                <a:solidFill>
                  <a:srgbClr val="000000"/>
                </a:solidFill>
                <a:effectLst/>
                <a:latin typeface="Cascadia Mono" panose="020B0609020000020004" pitchFamily="49" charset="0"/>
              </a:rPr>
              <a:t> </a:t>
            </a:r>
            <a:r>
              <a:rPr lang="en-IN" sz="1800" dirty="0" err="1">
                <a:solidFill>
                  <a:srgbClr val="0000FF"/>
                </a:solidFill>
                <a:effectLst/>
                <a:latin typeface="Cascadia Mono" panose="020B0609020000020004" pitchFamily="49" charset="0"/>
              </a:rPr>
              <a:t>desc</a:t>
            </a:r>
            <a:endParaRPr lang="en-IN"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3A2257D0-5B7F-3068-5751-51797548471F}"/>
              </a:ext>
            </a:extLst>
          </p:cNvPr>
          <p:cNvSpPr txBox="1"/>
          <p:nvPr/>
        </p:nvSpPr>
        <p:spPr>
          <a:xfrm>
            <a:off x="711200" y="3906337"/>
            <a:ext cx="18542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F85DFE7B-7939-CE66-0674-8C8BA908F966}"/>
              </a:ext>
            </a:extLst>
          </p:cNvPr>
          <p:cNvPicPr>
            <a:picLocks noChangeAspect="1"/>
          </p:cNvPicPr>
          <p:nvPr/>
        </p:nvPicPr>
        <p:blipFill>
          <a:blip r:embed="rId2"/>
          <a:stretch>
            <a:fillRect/>
          </a:stretch>
        </p:blipFill>
        <p:spPr>
          <a:xfrm>
            <a:off x="2349361" y="4306447"/>
            <a:ext cx="3229998" cy="621153"/>
          </a:xfrm>
          <a:prstGeom prst="rect">
            <a:avLst/>
          </a:prstGeom>
          <a:ln>
            <a:solidFill>
              <a:schemeClr val="tx2">
                <a:lumMod val="50000"/>
              </a:schemeClr>
            </a:solidFill>
          </a:ln>
        </p:spPr>
      </p:pic>
    </p:spTree>
    <p:extLst>
      <p:ext uri="{BB962C8B-B14F-4D97-AF65-F5344CB8AC3E}">
        <p14:creationId xmlns:p14="http://schemas.microsoft.com/office/powerpoint/2010/main" val="1728431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3A0BD3-D0F7-7766-1228-2538BC74E26A}"/>
              </a:ext>
            </a:extLst>
          </p:cNvPr>
          <p:cNvSpPr txBox="1"/>
          <p:nvPr/>
        </p:nvSpPr>
        <p:spPr>
          <a:xfrm>
            <a:off x="469900" y="723900"/>
            <a:ext cx="8623300" cy="677108"/>
          </a:xfrm>
          <a:prstGeom prst="rect">
            <a:avLst/>
          </a:prstGeom>
          <a:noFill/>
        </p:spPr>
        <p:txBody>
          <a:bodyPr wrap="square" rtlCol="0">
            <a:spAutoFit/>
          </a:bodyPr>
          <a:lstStyle/>
          <a:p>
            <a:r>
              <a:rPr lang="en-IN" b="1" dirty="0"/>
              <a:t>11. Find the average number of pizzas ordered per order.</a:t>
            </a:r>
            <a:endParaRPr lang="en-IN" dirty="0"/>
          </a:p>
          <a:p>
            <a:endParaRPr lang="en-IN" sz="2000" dirty="0"/>
          </a:p>
        </p:txBody>
      </p:sp>
      <p:sp>
        <p:nvSpPr>
          <p:cNvPr id="3" name="TextBox 2">
            <a:extLst>
              <a:ext uri="{FF2B5EF4-FFF2-40B4-BE49-F238E27FC236}">
                <a16:creationId xmlns:a16="http://schemas.microsoft.com/office/drawing/2014/main" id="{AC749A3E-8AFC-112E-14AB-CDDA2E9930BD}"/>
              </a:ext>
            </a:extLst>
          </p:cNvPr>
          <p:cNvSpPr txBox="1"/>
          <p:nvPr/>
        </p:nvSpPr>
        <p:spPr>
          <a:xfrm>
            <a:off x="793750" y="1401008"/>
            <a:ext cx="7454900" cy="2185214"/>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with</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cte</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 </a:t>
            </a:r>
            <a:r>
              <a:rPr lang="en-US" sz="1800" dirty="0">
                <a:solidFill>
                  <a:srgbClr val="808080"/>
                </a:solidFill>
                <a:effectLst/>
                <a:latin typeface="Cascadia Mono" panose="020B0609020000020004" pitchFamily="49" charset="0"/>
              </a:rPr>
              <a:t>(</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select</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order_id</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SUM</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quantity</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total_pizza</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order_details</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group</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by</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order_id</a:t>
            </a:r>
            <a:r>
              <a:rPr lang="en-US" sz="1800" dirty="0">
                <a:solidFill>
                  <a:srgbClr val="808080"/>
                </a:solidFill>
                <a:effectLst/>
                <a:latin typeface="Cascadia Mono" panose="020B0609020000020004" pitchFamily="49" charset="0"/>
              </a:rPr>
              <a:t>)</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select</a:t>
            </a:r>
            <a:r>
              <a:rPr lang="en-US" sz="1800" dirty="0">
                <a:solidFill>
                  <a:srgbClr val="000000"/>
                </a:solidFill>
                <a:effectLst/>
                <a:latin typeface="Cascadia Mono" panose="020B0609020000020004" pitchFamily="49" charset="0"/>
              </a:rPr>
              <a:t> </a:t>
            </a:r>
            <a:r>
              <a:rPr lang="en-US" sz="1800" dirty="0">
                <a:solidFill>
                  <a:srgbClr val="FF00FF"/>
                </a:solidFill>
                <a:effectLst/>
                <a:latin typeface="Cascadia Mono" panose="020B0609020000020004" pitchFamily="49" charset="0"/>
              </a:rPr>
              <a:t>avg</a:t>
            </a:r>
            <a:r>
              <a:rPr lang="en-US" sz="1800" dirty="0">
                <a:solidFill>
                  <a:srgbClr val="808080"/>
                </a:solidFill>
                <a:effectLst/>
                <a:latin typeface="Cascadia Mono" panose="020B0609020000020004" pitchFamily="49" charset="0"/>
              </a:rPr>
              <a:t>(</a:t>
            </a:r>
            <a:r>
              <a:rPr lang="en-US" sz="1800" dirty="0" err="1">
                <a:solidFill>
                  <a:srgbClr val="000000"/>
                </a:solidFill>
                <a:effectLst/>
                <a:latin typeface="Cascadia Mono" panose="020B0609020000020004" pitchFamily="49" charset="0"/>
              </a:rPr>
              <a:t>total_pizza</a:t>
            </a:r>
            <a:r>
              <a:rPr lang="en-US" sz="1800" dirty="0">
                <a:solidFill>
                  <a:srgbClr val="808080"/>
                </a:solidFill>
                <a:effectLst/>
                <a:latin typeface="Cascadia Mono" panose="020B0609020000020004" pitchFamily="49" charset="0"/>
              </a:rPr>
              <a:t>)</a:t>
            </a:r>
            <a:r>
              <a:rPr lang="en-US" sz="1800" dirty="0">
                <a:solidFill>
                  <a:srgbClr val="000000"/>
                </a:solidFill>
                <a:effectLst/>
                <a:latin typeface="Cascadia Mono" panose="020B0609020000020004" pitchFamily="49" charset="0"/>
              </a:rPr>
              <a:t> </a:t>
            </a:r>
            <a:r>
              <a:rPr lang="en-US" sz="1800" dirty="0">
                <a:solidFill>
                  <a:srgbClr val="0000FF"/>
                </a:solidFill>
                <a:effectLst/>
                <a:latin typeface="Cascadia Mono" panose="020B0609020000020004" pitchFamily="49" charset="0"/>
              </a:rPr>
              <a:t>as</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avg_pizzas_per_order</a:t>
            </a:r>
            <a:endParaRPr lang="en-US" sz="1800" dirty="0">
              <a:solidFill>
                <a:srgbClr val="000000"/>
              </a:solidFill>
              <a:effectLst/>
              <a:latin typeface="Cascadia Mono" panose="020B0609020000020004" pitchFamily="49" charset="0"/>
            </a:endParaRPr>
          </a:p>
          <a:p>
            <a:pPr>
              <a:buNone/>
            </a:pPr>
            <a:r>
              <a:rPr lang="en-US" sz="1800" dirty="0">
                <a:solidFill>
                  <a:srgbClr val="0000FF"/>
                </a:solidFill>
                <a:effectLst/>
                <a:latin typeface="Cascadia Mono" panose="020B0609020000020004" pitchFamily="49" charset="0"/>
              </a:rPr>
              <a:t>from</a:t>
            </a:r>
            <a:r>
              <a:rPr lang="en-US" sz="1800" dirty="0">
                <a:solidFill>
                  <a:srgbClr val="000000"/>
                </a:solidFill>
                <a:effectLst/>
                <a:latin typeface="Cascadia Mono" panose="020B0609020000020004" pitchFamily="49" charset="0"/>
              </a:rPr>
              <a:t> </a:t>
            </a:r>
            <a:r>
              <a:rPr lang="en-US" sz="1800" dirty="0" err="1">
                <a:solidFill>
                  <a:srgbClr val="000000"/>
                </a:solidFill>
                <a:effectLst/>
                <a:latin typeface="Cascadia Mono" panose="020B0609020000020004" pitchFamily="49" charset="0"/>
              </a:rPr>
              <a:t>cte</a:t>
            </a:r>
            <a:endParaRPr lang="en-US"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DC19B0B7-FE55-E493-61B9-109C11C310FA}"/>
              </a:ext>
            </a:extLst>
          </p:cNvPr>
          <p:cNvSpPr txBox="1"/>
          <p:nvPr/>
        </p:nvSpPr>
        <p:spPr>
          <a:xfrm>
            <a:off x="793750" y="3747554"/>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1CB28CA9-ACBB-15FA-20C7-36CFE5C3ED1A}"/>
              </a:ext>
            </a:extLst>
          </p:cNvPr>
          <p:cNvPicPr>
            <a:picLocks noChangeAspect="1"/>
          </p:cNvPicPr>
          <p:nvPr/>
        </p:nvPicPr>
        <p:blipFill>
          <a:blip r:embed="rId2"/>
          <a:stretch>
            <a:fillRect/>
          </a:stretch>
        </p:blipFill>
        <p:spPr>
          <a:xfrm>
            <a:off x="2432050" y="4235510"/>
            <a:ext cx="2819636" cy="755590"/>
          </a:xfrm>
          <a:prstGeom prst="rect">
            <a:avLst/>
          </a:prstGeom>
          <a:ln>
            <a:solidFill>
              <a:schemeClr val="tx2">
                <a:lumMod val="50000"/>
              </a:schemeClr>
            </a:solidFill>
          </a:ln>
        </p:spPr>
      </p:pic>
    </p:spTree>
    <p:extLst>
      <p:ext uri="{BB962C8B-B14F-4D97-AF65-F5344CB8AC3E}">
        <p14:creationId xmlns:p14="http://schemas.microsoft.com/office/powerpoint/2010/main" val="3761983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E1F84E-3AD7-F273-BA33-442845F6947D}"/>
              </a:ext>
            </a:extLst>
          </p:cNvPr>
          <p:cNvSpPr txBox="1"/>
          <p:nvPr/>
        </p:nvSpPr>
        <p:spPr>
          <a:xfrm>
            <a:off x="469900" y="723900"/>
            <a:ext cx="8623300" cy="369332"/>
          </a:xfrm>
          <a:prstGeom prst="rect">
            <a:avLst/>
          </a:prstGeom>
          <a:noFill/>
        </p:spPr>
        <p:txBody>
          <a:bodyPr wrap="square" rtlCol="0">
            <a:spAutoFit/>
          </a:bodyPr>
          <a:lstStyle/>
          <a:p>
            <a:r>
              <a:rPr lang="en-IN" b="1" dirty="0"/>
              <a:t>12.List the top 3 orders which spent the most.</a:t>
            </a:r>
            <a:endParaRPr lang="en-IN" dirty="0"/>
          </a:p>
        </p:txBody>
      </p:sp>
      <p:sp>
        <p:nvSpPr>
          <p:cNvPr id="3" name="TextBox 2">
            <a:extLst>
              <a:ext uri="{FF2B5EF4-FFF2-40B4-BE49-F238E27FC236}">
                <a16:creationId xmlns:a16="http://schemas.microsoft.com/office/drawing/2014/main" id="{DBEEFDDB-0EA5-21E0-E2F7-6CE322D53EDD}"/>
              </a:ext>
            </a:extLst>
          </p:cNvPr>
          <p:cNvSpPr txBox="1"/>
          <p:nvPr/>
        </p:nvSpPr>
        <p:spPr>
          <a:xfrm>
            <a:off x="711200" y="1143120"/>
            <a:ext cx="7454900" cy="1908215"/>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select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Top</a:t>
            </a:r>
            <a:r>
              <a:rPr lang="en-IN" sz="1800" dirty="0">
                <a:solidFill>
                  <a:srgbClr val="000000"/>
                </a:solidFill>
                <a:effectLst/>
                <a:latin typeface="Cascadia Mono" panose="020B0609020000020004" pitchFamily="49" charset="0"/>
              </a:rPr>
              <a:t> 3 </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quantity</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spent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order_id</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from</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order_details</a:t>
            </a:r>
            <a:r>
              <a:rPr lang="en-IN" sz="1800" dirty="0">
                <a:solidFill>
                  <a:srgbClr val="000000"/>
                </a:solidFill>
                <a:effectLst/>
                <a:latin typeface="Cascadia Mono" panose="020B0609020000020004" pitchFamily="49" charset="0"/>
              </a:rPr>
              <a:t> od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Pizzas p </a:t>
            </a:r>
          </a:p>
          <a:p>
            <a:pPr>
              <a:buNone/>
            </a:pP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group</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order_id</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order</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spent  </a:t>
            </a:r>
            <a:r>
              <a:rPr lang="en-IN" sz="1800" dirty="0" err="1">
                <a:solidFill>
                  <a:srgbClr val="0000FF"/>
                </a:solidFill>
                <a:effectLst/>
                <a:latin typeface="Cascadia Mono" panose="020B0609020000020004" pitchFamily="49" charset="0"/>
              </a:rPr>
              <a:t>desc</a:t>
            </a:r>
            <a:endParaRPr lang="en-IN"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A8260B20-18F9-631F-7F05-712C706251C5}"/>
              </a:ext>
            </a:extLst>
          </p:cNvPr>
          <p:cNvSpPr txBox="1"/>
          <p:nvPr/>
        </p:nvSpPr>
        <p:spPr>
          <a:xfrm>
            <a:off x="711200" y="3406556"/>
            <a:ext cx="2044700" cy="400110"/>
          </a:xfrm>
          <a:prstGeom prst="rect">
            <a:avLst/>
          </a:prstGeom>
          <a:noFill/>
        </p:spPr>
        <p:txBody>
          <a:bodyPr wrap="square" rtlCol="0">
            <a:spAutoFit/>
          </a:bodyPr>
          <a:lstStyle/>
          <a:p>
            <a:r>
              <a:rPr lang="en-IN" sz="2000" dirty="0"/>
              <a:t>Result -</a:t>
            </a:r>
          </a:p>
        </p:txBody>
      </p:sp>
      <p:pic>
        <p:nvPicPr>
          <p:cNvPr id="7" name="Picture 6">
            <a:extLst>
              <a:ext uri="{FF2B5EF4-FFF2-40B4-BE49-F238E27FC236}">
                <a16:creationId xmlns:a16="http://schemas.microsoft.com/office/drawing/2014/main" id="{F4EBCD9B-CD34-A272-47C5-224AAADC768E}"/>
              </a:ext>
            </a:extLst>
          </p:cNvPr>
          <p:cNvPicPr>
            <a:picLocks noChangeAspect="1"/>
          </p:cNvPicPr>
          <p:nvPr/>
        </p:nvPicPr>
        <p:blipFill>
          <a:blip r:embed="rId2"/>
          <a:stretch>
            <a:fillRect/>
          </a:stretch>
        </p:blipFill>
        <p:spPr>
          <a:xfrm>
            <a:off x="5935465" y="2832101"/>
            <a:ext cx="4211835" cy="2941146"/>
          </a:xfrm>
          <a:prstGeom prst="rect">
            <a:avLst/>
          </a:prstGeom>
          <a:ln>
            <a:solidFill>
              <a:schemeClr val="tx1">
                <a:lumMod val="65000"/>
                <a:lumOff val="35000"/>
              </a:schemeClr>
            </a:solidFill>
          </a:ln>
        </p:spPr>
      </p:pic>
      <p:pic>
        <p:nvPicPr>
          <p:cNvPr id="9" name="Picture 8">
            <a:extLst>
              <a:ext uri="{FF2B5EF4-FFF2-40B4-BE49-F238E27FC236}">
                <a16:creationId xmlns:a16="http://schemas.microsoft.com/office/drawing/2014/main" id="{26CC410C-C413-226E-3799-5110819D09F2}"/>
              </a:ext>
            </a:extLst>
          </p:cNvPr>
          <p:cNvPicPr>
            <a:picLocks noChangeAspect="1"/>
          </p:cNvPicPr>
          <p:nvPr/>
        </p:nvPicPr>
        <p:blipFill>
          <a:blip r:embed="rId3"/>
          <a:stretch>
            <a:fillRect/>
          </a:stretch>
        </p:blipFill>
        <p:spPr>
          <a:xfrm>
            <a:off x="1906451" y="3429000"/>
            <a:ext cx="3456596" cy="2019300"/>
          </a:xfrm>
          <a:prstGeom prst="rect">
            <a:avLst/>
          </a:prstGeom>
          <a:ln>
            <a:solidFill>
              <a:schemeClr val="tx1">
                <a:lumMod val="65000"/>
                <a:lumOff val="35000"/>
              </a:schemeClr>
            </a:solidFill>
          </a:ln>
        </p:spPr>
      </p:pic>
    </p:spTree>
    <p:extLst>
      <p:ext uri="{BB962C8B-B14F-4D97-AF65-F5344CB8AC3E}">
        <p14:creationId xmlns:p14="http://schemas.microsoft.com/office/powerpoint/2010/main" val="3602622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EB662-E104-238C-6F4E-2A6D87CA79A1}"/>
              </a:ext>
            </a:extLst>
          </p:cNvPr>
          <p:cNvSpPr txBox="1"/>
          <p:nvPr/>
        </p:nvSpPr>
        <p:spPr>
          <a:xfrm>
            <a:off x="469900" y="723900"/>
            <a:ext cx="8623300" cy="369332"/>
          </a:xfrm>
          <a:prstGeom prst="rect">
            <a:avLst/>
          </a:prstGeom>
          <a:noFill/>
        </p:spPr>
        <p:txBody>
          <a:bodyPr wrap="square" rtlCol="0">
            <a:spAutoFit/>
          </a:bodyPr>
          <a:lstStyle/>
          <a:p>
            <a:r>
              <a:rPr lang="en-IN" b="1" dirty="0"/>
              <a:t>13. Find the cumulative revenue generated throughout the day (running total).</a:t>
            </a:r>
            <a:endParaRPr lang="en-IN" sz="2000" dirty="0"/>
          </a:p>
        </p:txBody>
      </p:sp>
      <p:sp>
        <p:nvSpPr>
          <p:cNvPr id="3" name="TextBox 2">
            <a:extLst>
              <a:ext uri="{FF2B5EF4-FFF2-40B4-BE49-F238E27FC236}">
                <a16:creationId xmlns:a16="http://schemas.microsoft.com/office/drawing/2014/main" id="{A0E589E9-1EB6-B1A4-0E0A-BD762C996217}"/>
              </a:ext>
            </a:extLst>
          </p:cNvPr>
          <p:cNvSpPr txBox="1"/>
          <p:nvPr/>
        </p:nvSpPr>
        <p:spPr>
          <a:xfrm>
            <a:off x="711200" y="1143120"/>
            <a:ext cx="10490200" cy="2185214"/>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select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a:t>
            </a:r>
            <a:r>
              <a:rPr lang="en-IN" sz="1800" dirty="0" err="1">
                <a:solidFill>
                  <a:srgbClr val="808080"/>
                </a:solidFill>
                <a:effectLst/>
                <a:latin typeface="Cascadia Mono" panose="020B0609020000020004" pitchFamily="49" charset="0"/>
              </a:rPr>
              <a:t>.</a:t>
            </a:r>
            <a:r>
              <a:rPr lang="en-IN" sz="1800" dirty="0" err="1">
                <a:solidFill>
                  <a:srgbClr val="0000FF"/>
                </a:solidFill>
                <a:effectLst/>
                <a:latin typeface="Cascadia Mono" panose="020B0609020000020004" pitchFamily="49" charset="0"/>
              </a:rPr>
              <a:t>time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a:t>
            </a:r>
            <a:r>
              <a:rPr lang="en-IN" sz="1800" dirty="0" err="1">
                <a:solidFill>
                  <a:srgbClr val="808080"/>
                </a:solidFill>
                <a:effectLst/>
                <a:latin typeface="Cascadia Mono" panose="020B0609020000020004" pitchFamily="49" charset="0"/>
              </a:rPr>
              <a:t>.</a:t>
            </a:r>
            <a:r>
              <a:rPr lang="en-IN" sz="1800" dirty="0" err="1">
                <a:solidFill>
                  <a:srgbClr val="0000FF"/>
                </a:solidFill>
                <a:effectLst/>
                <a:latin typeface="Cascadia Mono" panose="020B0609020000020004" pitchFamily="49" charset="0"/>
              </a:rPr>
              <a:t>date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FF00FF"/>
                </a:solidFill>
                <a:effectLst/>
                <a:latin typeface="Cascadia Mono" panose="020B0609020000020004" pitchFamily="49" charset="0"/>
              </a:rPr>
              <a:t>round</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2</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revenue </a:t>
            </a:r>
            <a:r>
              <a:rPr lang="en-IN" sz="1800" dirty="0">
                <a:solidFill>
                  <a:srgbClr val="808080"/>
                </a:solidFill>
                <a:effectLst/>
                <a:latin typeface="Cascadia Mono" panose="020B0609020000020004" pitchFamily="49" charset="0"/>
              </a:rPr>
              <a:t>,</a:t>
            </a:r>
            <a:endParaRPr lang="en-IN" sz="1800" dirty="0">
              <a:solidFill>
                <a:srgbClr val="000000"/>
              </a:solidFill>
              <a:effectLst/>
              <a:latin typeface="Cascadia Mono" panose="020B0609020000020004" pitchFamily="49" charset="0"/>
            </a:endParaRPr>
          </a:p>
          <a:p>
            <a:pPr>
              <a:buNone/>
            </a:pP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round</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2</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over</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partition</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a:t>
            </a:r>
            <a:r>
              <a:rPr lang="en-IN" sz="1800" dirty="0" err="1">
                <a:solidFill>
                  <a:srgbClr val="808080"/>
                </a:solidFill>
                <a:effectLst/>
                <a:latin typeface="Cascadia Mono" panose="020B0609020000020004" pitchFamily="49" charset="0"/>
              </a:rPr>
              <a:t>.</a:t>
            </a:r>
            <a:r>
              <a:rPr lang="en-IN" sz="1800" dirty="0" err="1">
                <a:solidFill>
                  <a:srgbClr val="0000FF"/>
                </a:solidFill>
                <a:effectLst/>
                <a:latin typeface="Cascadia Mono" panose="020B0609020000020004" pitchFamily="49" charset="0"/>
              </a:rPr>
              <a:t>date</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order</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a:t>
            </a:r>
            <a:r>
              <a:rPr lang="en-IN" sz="1800" dirty="0" err="1">
                <a:solidFill>
                  <a:srgbClr val="808080"/>
                </a:solidFill>
                <a:effectLst/>
                <a:latin typeface="Cascadia Mono" panose="020B0609020000020004" pitchFamily="49" charset="0"/>
              </a:rPr>
              <a:t>.</a:t>
            </a:r>
            <a:r>
              <a:rPr lang="en-IN" sz="1800" dirty="0" err="1">
                <a:solidFill>
                  <a:srgbClr val="0000FF"/>
                </a:solidFill>
                <a:effectLst/>
                <a:latin typeface="Cascadia Mono" panose="020B0609020000020004" pitchFamily="49" charset="0"/>
              </a:rPr>
              <a:t>time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cumulative_revenue</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from</a:t>
            </a:r>
            <a:r>
              <a:rPr lang="en-IN" sz="1800" dirty="0">
                <a:solidFill>
                  <a:srgbClr val="000000"/>
                </a:solidFill>
                <a:effectLst/>
                <a:latin typeface="Cascadia Mono" panose="020B0609020000020004" pitchFamily="49" charset="0"/>
              </a:rPr>
              <a:t> orders o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order_details</a:t>
            </a:r>
            <a:r>
              <a:rPr lang="en-IN" sz="1800" dirty="0">
                <a:solidFill>
                  <a:srgbClr val="000000"/>
                </a:solidFill>
                <a:effectLst/>
                <a:latin typeface="Cascadia Mono" panose="020B0609020000020004" pitchFamily="49" charset="0"/>
              </a:rPr>
              <a:t> od </a:t>
            </a: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order_id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order_id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Pizzas p </a:t>
            </a: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group</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a:t>
            </a:r>
            <a:r>
              <a:rPr lang="en-IN" sz="1800" dirty="0" err="1">
                <a:solidFill>
                  <a:srgbClr val="808080"/>
                </a:solidFill>
                <a:effectLst/>
                <a:latin typeface="Cascadia Mono" panose="020B0609020000020004" pitchFamily="49" charset="0"/>
              </a:rPr>
              <a:t>.</a:t>
            </a:r>
            <a:r>
              <a:rPr lang="en-IN" sz="1800" dirty="0" err="1">
                <a:solidFill>
                  <a:srgbClr val="0000FF"/>
                </a:solidFill>
                <a:effectLst/>
                <a:latin typeface="Cascadia Mono" panose="020B0609020000020004" pitchFamily="49" charset="0"/>
              </a:rPr>
              <a:t>date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a:t>
            </a:r>
            <a:r>
              <a:rPr lang="en-IN" sz="1800" dirty="0" err="1">
                <a:solidFill>
                  <a:srgbClr val="808080"/>
                </a:solidFill>
                <a:effectLst/>
                <a:latin typeface="Cascadia Mono" panose="020B0609020000020004" pitchFamily="49" charset="0"/>
              </a:rPr>
              <a:t>.</a:t>
            </a:r>
            <a:r>
              <a:rPr lang="en-IN" sz="1800" dirty="0" err="1">
                <a:solidFill>
                  <a:srgbClr val="0000FF"/>
                </a:solidFill>
                <a:effectLst/>
                <a:latin typeface="Cascadia Mono" panose="020B0609020000020004" pitchFamily="49" charset="0"/>
              </a:rPr>
              <a:t>time</a:t>
            </a:r>
            <a:endParaRPr lang="en-IN"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1A2431FB-E466-51F9-2B11-5FC239F3B50F}"/>
              </a:ext>
            </a:extLst>
          </p:cNvPr>
          <p:cNvSpPr txBox="1"/>
          <p:nvPr/>
        </p:nvSpPr>
        <p:spPr>
          <a:xfrm>
            <a:off x="711200" y="3529667"/>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DDB1D956-14EC-CB1E-8D5A-170857067C4B}"/>
              </a:ext>
            </a:extLst>
          </p:cNvPr>
          <p:cNvPicPr>
            <a:picLocks noChangeAspect="1"/>
          </p:cNvPicPr>
          <p:nvPr/>
        </p:nvPicPr>
        <p:blipFill>
          <a:blip r:embed="rId2"/>
          <a:stretch>
            <a:fillRect/>
          </a:stretch>
        </p:blipFill>
        <p:spPr>
          <a:xfrm>
            <a:off x="5355026" y="3529667"/>
            <a:ext cx="4652573" cy="3088792"/>
          </a:xfrm>
          <a:prstGeom prst="rect">
            <a:avLst/>
          </a:prstGeom>
          <a:ln>
            <a:solidFill>
              <a:schemeClr val="tx1">
                <a:lumMod val="65000"/>
                <a:lumOff val="35000"/>
              </a:schemeClr>
            </a:solidFill>
          </a:ln>
        </p:spPr>
      </p:pic>
      <p:pic>
        <p:nvPicPr>
          <p:cNvPr id="8" name="Picture 7">
            <a:extLst>
              <a:ext uri="{FF2B5EF4-FFF2-40B4-BE49-F238E27FC236}">
                <a16:creationId xmlns:a16="http://schemas.microsoft.com/office/drawing/2014/main" id="{56B65361-3E23-9893-E79E-DD3007F86EA9}"/>
              </a:ext>
            </a:extLst>
          </p:cNvPr>
          <p:cNvPicPr>
            <a:picLocks noChangeAspect="1"/>
          </p:cNvPicPr>
          <p:nvPr/>
        </p:nvPicPr>
        <p:blipFill>
          <a:blip r:embed="rId3"/>
          <a:stretch>
            <a:fillRect/>
          </a:stretch>
        </p:blipFill>
        <p:spPr>
          <a:xfrm>
            <a:off x="1933815" y="3429000"/>
            <a:ext cx="3127629" cy="3184941"/>
          </a:xfrm>
          <a:prstGeom prst="rect">
            <a:avLst/>
          </a:prstGeom>
        </p:spPr>
      </p:pic>
      <p:sp>
        <p:nvSpPr>
          <p:cNvPr id="9" name="TextBox 8">
            <a:extLst>
              <a:ext uri="{FF2B5EF4-FFF2-40B4-BE49-F238E27FC236}">
                <a16:creationId xmlns:a16="http://schemas.microsoft.com/office/drawing/2014/main" id="{72EC7295-CC80-501C-44D6-8384AF19855E}"/>
              </a:ext>
            </a:extLst>
          </p:cNvPr>
          <p:cNvSpPr txBox="1"/>
          <p:nvPr/>
        </p:nvSpPr>
        <p:spPr>
          <a:xfrm>
            <a:off x="10363200" y="3560823"/>
            <a:ext cx="1663700" cy="3184941"/>
          </a:xfrm>
          <a:prstGeom prst="rect">
            <a:avLst/>
          </a:prstGeom>
          <a:noFill/>
        </p:spPr>
        <p:txBody>
          <a:bodyPr wrap="square" rtlCol="0">
            <a:spAutoFit/>
          </a:bodyPr>
          <a:lstStyle/>
          <a:p>
            <a:r>
              <a:rPr lang="en-US" sz="1400" b="1" dirty="0">
                <a:latin typeface="Aptos Display" panose="020B0004020202020204" pitchFamily="34" charset="0"/>
              </a:rPr>
              <a:t>Note:</a:t>
            </a:r>
            <a:r>
              <a:rPr lang="en-US" sz="1400" dirty="0">
                <a:latin typeface="Aptos Display" panose="020B0004020202020204" pitchFamily="34" charset="0"/>
              </a:rPr>
              <a:t> The SQL query executed successfully and compiled all </a:t>
            </a:r>
            <a:r>
              <a:rPr lang="en-US" sz="1400" b="1" dirty="0">
                <a:latin typeface="Aptos Display" panose="020B0004020202020204" pitchFamily="34" charset="0"/>
              </a:rPr>
              <a:t>21,350 unique order rows</a:t>
            </a:r>
            <a:r>
              <a:rPr lang="en-US" sz="1400" dirty="0">
                <a:latin typeface="Aptos Display" panose="020B0004020202020204" pitchFamily="34" charset="0"/>
              </a:rPr>
              <a:t> across the entire database. To maintain presentation readability and save slide space, only a high-level snapshot of the results grid is shown above.</a:t>
            </a:r>
            <a:endParaRPr lang="en-IN" sz="1400" dirty="0">
              <a:latin typeface="Aptos Display" panose="020B0004020202020204" pitchFamily="34" charset="0"/>
            </a:endParaRPr>
          </a:p>
        </p:txBody>
      </p:sp>
    </p:spTree>
    <p:extLst>
      <p:ext uri="{BB962C8B-B14F-4D97-AF65-F5344CB8AC3E}">
        <p14:creationId xmlns:p14="http://schemas.microsoft.com/office/powerpoint/2010/main" val="3562374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399D81-A1D3-AB86-BA8E-95275C6BDB76}"/>
              </a:ext>
            </a:extLst>
          </p:cNvPr>
          <p:cNvSpPr txBox="1"/>
          <p:nvPr/>
        </p:nvSpPr>
        <p:spPr>
          <a:xfrm>
            <a:off x="533400" y="743010"/>
            <a:ext cx="8623300" cy="369332"/>
          </a:xfrm>
          <a:prstGeom prst="rect">
            <a:avLst/>
          </a:prstGeom>
          <a:noFill/>
        </p:spPr>
        <p:txBody>
          <a:bodyPr wrap="square" rtlCol="0">
            <a:spAutoFit/>
          </a:bodyPr>
          <a:lstStyle/>
          <a:p>
            <a:pPr lvl="0"/>
            <a:r>
              <a:rPr lang="en-IN" b="1" dirty="0"/>
              <a:t>14. Identify the pizza that has been ordered the least number of times.</a:t>
            </a:r>
            <a:endParaRPr lang="en-IN" dirty="0"/>
          </a:p>
        </p:txBody>
      </p:sp>
      <p:sp>
        <p:nvSpPr>
          <p:cNvPr id="3" name="TextBox 2">
            <a:extLst>
              <a:ext uri="{FF2B5EF4-FFF2-40B4-BE49-F238E27FC236}">
                <a16:creationId xmlns:a16="http://schemas.microsoft.com/office/drawing/2014/main" id="{AFBBEA61-6A46-8EFD-567E-E0E15561E86E}"/>
              </a:ext>
            </a:extLst>
          </p:cNvPr>
          <p:cNvSpPr txBox="1"/>
          <p:nvPr/>
        </p:nvSpPr>
        <p:spPr>
          <a:xfrm>
            <a:off x="711200" y="1143120"/>
            <a:ext cx="7454900" cy="2462213"/>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select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TOP</a:t>
            </a:r>
            <a:r>
              <a:rPr lang="en-IN" sz="1800" dirty="0">
                <a:solidFill>
                  <a:srgbClr val="000000"/>
                </a:solidFill>
                <a:effectLst/>
                <a:latin typeface="Cascadia Mono" panose="020B0609020000020004" pitchFamily="49" charset="0"/>
              </a:rPr>
              <a:t> 1 pt</a:t>
            </a:r>
            <a:r>
              <a:rPr lang="en-IN" sz="1800" dirty="0">
                <a:solidFill>
                  <a:srgbClr val="808080"/>
                </a:solidFill>
                <a:effectLst/>
                <a:latin typeface="Cascadia Mono" panose="020B0609020000020004" pitchFamily="49" charset="0"/>
              </a:rPr>
              <a:t>.</a:t>
            </a:r>
            <a:r>
              <a:rPr lang="en-IN" sz="1800" dirty="0">
                <a:solidFill>
                  <a:srgbClr val="0000FF"/>
                </a:solidFill>
                <a:effectLst/>
                <a:latin typeface="Cascadia Mono" panose="020B0609020000020004" pitchFamily="49" charset="0"/>
              </a:rPr>
              <a:t>name</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name</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qty </a:t>
            </a:r>
            <a:r>
              <a:rPr lang="en-IN" sz="1800" dirty="0">
                <a:solidFill>
                  <a:srgbClr val="0000FF"/>
                </a:solidFill>
                <a:effectLst/>
                <a:latin typeface="Cascadia Mono" panose="020B0609020000020004" pitchFamily="49" charset="0"/>
              </a:rPr>
              <a:t>from</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Pizza_Types</a:t>
            </a:r>
            <a:r>
              <a:rPr lang="en-IN" sz="1800" dirty="0">
                <a:solidFill>
                  <a:srgbClr val="000000"/>
                </a:solidFill>
                <a:effectLst/>
                <a:latin typeface="Cascadia Mono" panose="020B0609020000020004" pitchFamily="49" charset="0"/>
              </a:rPr>
              <a:t> pt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Pizzas p </a:t>
            </a:r>
          </a:p>
          <a:p>
            <a:pPr>
              <a:buNone/>
            </a:pP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order_details</a:t>
            </a:r>
            <a:r>
              <a:rPr lang="en-IN" sz="1800" dirty="0">
                <a:solidFill>
                  <a:srgbClr val="000000"/>
                </a:solidFill>
                <a:effectLst/>
                <a:latin typeface="Cascadia Mono" panose="020B0609020000020004" pitchFamily="49" charset="0"/>
              </a:rPr>
              <a:t> od</a:t>
            </a:r>
          </a:p>
          <a:p>
            <a:pPr>
              <a:buNone/>
            </a:pP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group</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pt</a:t>
            </a:r>
            <a:r>
              <a:rPr lang="en-IN" sz="1800" dirty="0">
                <a:solidFill>
                  <a:srgbClr val="808080"/>
                </a:solidFill>
                <a:effectLst/>
                <a:latin typeface="Cascadia Mono" panose="020B0609020000020004" pitchFamily="49" charset="0"/>
              </a:rPr>
              <a:t>.</a:t>
            </a:r>
            <a:r>
              <a:rPr lang="en-IN" sz="1800" dirty="0">
                <a:solidFill>
                  <a:srgbClr val="0000FF"/>
                </a:solidFill>
                <a:effectLst/>
                <a:latin typeface="Cascadia Mono" panose="020B0609020000020004" pitchFamily="49" charset="0"/>
              </a:rPr>
              <a:t>name</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order</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qty</a:t>
            </a:r>
          </a:p>
        </p:txBody>
      </p:sp>
      <p:sp>
        <p:nvSpPr>
          <p:cNvPr id="4" name="TextBox 3">
            <a:extLst>
              <a:ext uri="{FF2B5EF4-FFF2-40B4-BE49-F238E27FC236}">
                <a16:creationId xmlns:a16="http://schemas.microsoft.com/office/drawing/2014/main" id="{A4F403BB-1563-2737-3E77-CFD3251B2046}"/>
              </a:ext>
            </a:extLst>
          </p:cNvPr>
          <p:cNvSpPr txBox="1"/>
          <p:nvPr/>
        </p:nvSpPr>
        <p:spPr>
          <a:xfrm>
            <a:off x="711200" y="3867047"/>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0E9624B5-79A0-B776-EB23-1E228663A6B8}"/>
              </a:ext>
            </a:extLst>
          </p:cNvPr>
          <p:cNvPicPr>
            <a:picLocks noChangeAspect="1"/>
          </p:cNvPicPr>
          <p:nvPr/>
        </p:nvPicPr>
        <p:blipFill>
          <a:blip r:embed="rId2"/>
          <a:stretch>
            <a:fillRect/>
          </a:stretch>
        </p:blipFill>
        <p:spPr>
          <a:xfrm>
            <a:off x="2571685" y="4267157"/>
            <a:ext cx="3733929" cy="1244643"/>
          </a:xfrm>
          <a:prstGeom prst="rect">
            <a:avLst/>
          </a:prstGeom>
          <a:ln>
            <a:solidFill>
              <a:schemeClr val="tx1">
                <a:lumMod val="65000"/>
                <a:lumOff val="35000"/>
              </a:schemeClr>
            </a:solidFill>
          </a:ln>
        </p:spPr>
      </p:pic>
    </p:spTree>
    <p:extLst>
      <p:ext uri="{BB962C8B-B14F-4D97-AF65-F5344CB8AC3E}">
        <p14:creationId xmlns:p14="http://schemas.microsoft.com/office/powerpoint/2010/main" val="3556689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FF1286-C72A-1E60-E4C9-6BA5C46A4E74}"/>
              </a:ext>
            </a:extLst>
          </p:cNvPr>
          <p:cNvSpPr txBox="1"/>
          <p:nvPr/>
        </p:nvSpPr>
        <p:spPr>
          <a:xfrm>
            <a:off x="711200" y="743010"/>
            <a:ext cx="8623300" cy="400110"/>
          </a:xfrm>
          <a:prstGeom prst="rect">
            <a:avLst/>
          </a:prstGeom>
          <a:noFill/>
        </p:spPr>
        <p:txBody>
          <a:bodyPr wrap="square" rtlCol="0">
            <a:spAutoFit/>
          </a:bodyPr>
          <a:lstStyle/>
          <a:p>
            <a:r>
              <a:rPr lang="en-IN" sz="2000" dirty="0"/>
              <a:t>15.</a:t>
            </a:r>
            <a:r>
              <a:rPr lang="en-IN" b="1" dirty="0"/>
              <a:t> Find the percentage contribution of each pizza category to total revenue.</a:t>
            </a:r>
            <a:endParaRPr lang="en-IN" sz="2000" dirty="0"/>
          </a:p>
        </p:txBody>
      </p:sp>
      <p:sp>
        <p:nvSpPr>
          <p:cNvPr id="3" name="TextBox 2">
            <a:extLst>
              <a:ext uri="{FF2B5EF4-FFF2-40B4-BE49-F238E27FC236}">
                <a16:creationId xmlns:a16="http://schemas.microsoft.com/office/drawing/2014/main" id="{AAFE5C2C-8CA0-4333-0280-F64C6EB29B0B}"/>
              </a:ext>
            </a:extLst>
          </p:cNvPr>
          <p:cNvSpPr txBox="1"/>
          <p:nvPr/>
        </p:nvSpPr>
        <p:spPr>
          <a:xfrm>
            <a:off x="711200" y="1143120"/>
            <a:ext cx="9906000" cy="2739211"/>
          </a:xfrm>
          <a:prstGeom prst="rect">
            <a:avLst/>
          </a:prstGeom>
          <a:noFill/>
        </p:spPr>
        <p:txBody>
          <a:bodyPr wrap="square" rtlCol="0">
            <a:spAutoFit/>
          </a:bodyPr>
          <a:lstStyle/>
          <a:p>
            <a:pPr>
              <a:buNone/>
            </a:pPr>
            <a:r>
              <a:rPr lang="en-US" sz="2000" dirty="0">
                <a:effectLst/>
                <a:latin typeface="+mj-lt"/>
              </a:rPr>
              <a:t>Query - </a:t>
            </a:r>
          </a:p>
          <a:p>
            <a:pPr>
              <a:buNone/>
            </a:pPr>
            <a:endParaRPr lang="en-US" sz="800" dirty="0">
              <a:solidFill>
                <a:srgbClr val="0000FF"/>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select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category</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FF00FF"/>
                </a:solidFill>
                <a:effectLst/>
                <a:latin typeface="Cascadia Mono" panose="020B0609020000020004" pitchFamily="49" charset="0"/>
              </a:rPr>
              <a:t>round</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2</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total_revenue</a:t>
            </a:r>
            <a:r>
              <a:rPr lang="en-IN" sz="1800" dirty="0">
                <a:solidFill>
                  <a:srgbClr val="808080"/>
                </a:solidFill>
                <a:effectLst/>
                <a:latin typeface="Cascadia Mono" panose="020B0609020000020004" pitchFamily="49" charset="0"/>
              </a:rPr>
              <a:t>,</a:t>
            </a:r>
            <a:endParaRPr lang="en-IN" sz="1800" dirty="0">
              <a:solidFill>
                <a:srgbClr val="000000"/>
              </a:solidFill>
              <a:effectLst/>
              <a:latin typeface="Cascadia Mono" panose="020B0609020000020004" pitchFamily="49" charset="0"/>
            </a:endParaRPr>
          </a:p>
          <a:p>
            <a:pPr>
              <a:buNone/>
            </a:pP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round</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2</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over</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grand_total</a:t>
            </a:r>
            <a:r>
              <a:rPr lang="en-IN" sz="1800" dirty="0">
                <a:solidFill>
                  <a:srgbClr val="808080"/>
                </a:solidFill>
                <a:effectLst/>
                <a:latin typeface="Cascadia Mono" panose="020B0609020000020004" pitchFamily="49" charset="0"/>
              </a:rPr>
              <a:t>,</a:t>
            </a:r>
            <a:endParaRPr lang="en-IN" sz="1800" dirty="0">
              <a:solidFill>
                <a:srgbClr val="000000"/>
              </a:solidFill>
              <a:effectLst/>
              <a:latin typeface="Cascadia Mono" panose="020B0609020000020004" pitchFamily="49" charset="0"/>
            </a:endParaRPr>
          </a:p>
          <a:p>
            <a:pPr>
              <a:buNone/>
            </a:pPr>
            <a:r>
              <a:rPr lang="en-IN" sz="1800" dirty="0">
                <a:solidFill>
                  <a:srgbClr val="FF00FF"/>
                </a:solidFill>
                <a:effectLst/>
                <a:latin typeface="Cascadia Mono" panose="020B0609020000020004" pitchFamily="49" charset="0"/>
              </a:rPr>
              <a:t>round</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quantity</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2</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100</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round</a:t>
            </a:r>
            <a:r>
              <a:rPr lang="en-IN" sz="1800" dirty="0">
                <a:solidFill>
                  <a:srgbClr val="808080"/>
                </a:solidFill>
                <a:effectLst/>
                <a:latin typeface="Cascadia Mono" panose="020B0609020000020004" pitchFamily="49" charset="0"/>
              </a:rPr>
              <a:t>(</a:t>
            </a:r>
            <a:r>
              <a:rPr lang="en-IN" sz="1800" dirty="0">
                <a:solidFill>
                  <a:srgbClr val="FF00FF"/>
                </a:solidFill>
                <a:effectLst/>
                <a:latin typeface="Cascadia Mono" panose="020B0609020000020004" pitchFamily="49" charset="0"/>
              </a:rPr>
              <a:t>sum</a:t>
            </a:r>
            <a:r>
              <a:rPr lang="en-IN" sz="1800" dirty="0">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quantiy</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price</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2</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over</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as</a:t>
            </a:r>
            <a:r>
              <a:rPr lang="en-IN" sz="1800" dirty="0">
                <a:solidFill>
                  <a:srgbClr val="000000"/>
                </a:solidFill>
                <a:effectLst/>
                <a:latin typeface="Cascadia Mono" panose="020B0609020000020004" pitchFamily="49" charset="0"/>
              </a:rPr>
              <a:t> contribution</a:t>
            </a:r>
          </a:p>
          <a:p>
            <a:pPr>
              <a:buNone/>
            </a:pPr>
            <a:r>
              <a:rPr lang="en-IN" sz="1800" dirty="0">
                <a:solidFill>
                  <a:srgbClr val="0000FF"/>
                </a:solidFill>
                <a:effectLst/>
                <a:latin typeface="Cascadia Mono" panose="020B0609020000020004" pitchFamily="49" charset="0"/>
              </a:rPr>
              <a:t>from</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Pizza_Types</a:t>
            </a:r>
            <a:r>
              <a:rPr lang="en-IN" sz="1800" dirty="0">
                <a:solidFill>
                  <a:srgbClr val="000000"/>
                </a:solidFill>
                <a:effectLst/>
                <a:latin typeface="Cascadia Mono" panose="020B0609020000020004" pitchFamily="49" charset="0"/>
              </a:rPr>
              <a:t> pt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Pizzas p </a:t>
            </a:r>
          </a:p>
          <a:p>
            <a:pPr>
              <a:buNone/>
            </a:pP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pizza_type_id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join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order_details</a:t>
            </a:r>
            <a:r>
              <a:rPr lang="en-IN" sz="1800" dirty="0">
                <a:solidFill>
                  <a:srgbClr val="000000"/>
                </a:solidFill>
                <a:effectLst/>
                <a:latin typeface="Cascadia Mono" panose="020B0609020000020004" pitchFamily="49" charset="0"/>
              </a:rPr>
              <a:t> od</a:t>
            </a:r>
          </a:p>
          <a:p>
            <a:pPr>
              <a:buNone/>
            </a:pPr>
            <a:r>
              <a:rPr lang="en-IN" sz="1800" dirty="0">
                <a:solidFill>
                  <a:srgbClr val="0000FF"/>
                </a:solidFill>
                <a:effectLst/>
                <a:latin typeface="Cascadia Mono" panose="020B0609020000020004" pitchFamily="49" charset="0"/>
              </a:rPr>
              <a:t>on</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od</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r>
              <a:rPr lang="en-IN" sz="1800" dirty="0">
                <a:solidFill>
                  <a:srgbClr val="000000"/>
                </a:solidFill>
                <a:effectLst/>
                <a:latin typeface="Cascadia Mono" panose="020B0609020000020004" pitchFamily="49" charset="0"/>
              </a:rPr>
              <a:t> </a:t>
            </a:r>
            <a:r>
              <a:rPr lang="en-IN" sz="1800" dirty="0">
                <a:solidFill>
                  <a:srgbClr val="808080"/>
                </a:solidFill>
                <a:effectLst/>
                <a:latin typeface="Cascadia Mono" panose="020B0609020000020004" pitchFamily="49" charset="0"/>
              </a:rPr>
              <a:t>=</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pizza_id</a:t>
            </a:r>
            <a:endParaRPr lang="en-IN" sz="1800" dirty="0">
              <a:solidFill>
                <a:srgbClr val="000000"/>
              </a:solidFill>
              <a:effectLst/>
              <a:latin typeface="Cascadia Mono" panose="020B0609020000020004" pitchFamily="49" charset="0"/>
            </a:endParaRPr>
          </a:p>
          <a:p>
            <a:pPr>
              <a:buNone/>
            </a:pPr>
            <a:r>
              <a:rPr lang="en-IN" sz="1800" dirty="0">
                <a:solidFill>
                  <a:srgbClr val="0000FF"/>
                </a:solidFill>
                <a:effectLst/>
                <a:latin typeface="Cascadia Mono" panose="020B0609020000020004" pitchFamily="49" charset="0"/>
              </a:rPr>
              <a:t>group</a:t>
            </a:r>
            <a:r>
              <a:rPr lang="en-IN" sz="1800" dirty="0">
                <a:solidFill>
                  <a:srgbClr val="000000"/>
                </a:solidFill>
                <a:effectLst/>
                <a:latin typeface="Cascadia Mono" panose="020B0609020000020004" pitchFamily="49" charset="0"/>
              </a:rPr>
              <a:t> </a:t>
            </a:r>
            <a:r>
              <a:rPr lang="en-IN" sz="1800" dirty="0">
                <a:solidFill>
                  <a:srgbClr val="0000FF"/>
                </a:solidFill>
                <a:effectLst/>
                <a:latin typeface="Cascadia Mono" panose="020B0609020000020004" pitchFamily="49" charset="0"/>
              </a:rPr>
              <a:t>by</a:t>
            </a:r>
            <a:r>
              <a:rPr lang="en-IN" sz="1800" dirty="0">
                <a:solidFill>
                  <a:srgbClr val="000000"/>
                </a:solidFill>
                <a:effectLst/>
                <a:latin typeface="Cascadia Mono" panose="020B0609020000020004" pitchFamily="49" charset="0"/>
              </a:rPr>
              <a:t> </a:t>
            </a:r>
            <a:r>
              <a:rPr lang="en-IN" sz="1800" dirty="0" err="1">
                <a:solidFill>
                  <a:srgbClr val="000000"/>
                </a:solidFill>
                <a:effectLst/>
                <a:latin typeface="Cascadia Mono" panose="020B0609020000020004" pitchFamily="49" charset="0"/>
              </a:rPr>
              <a:t>pt</a:t>
            </a:r>
            <a:r>
              <a:rPr lang="en-IN" sz="1800" dirty="0" err="1">
                <a:solidFill>
                  <a:srgbClr val="808080"/>
                </a:solidFill>
                <a:effectLst/>
                <a:latin typeface="Cascadia Mono" panose="020B0609020000020004" pitchFamily="49" charset="0"/>
              </a:rPr>
              <a:t>.</a:t>
            </a:r>
            <a:r>
              <a:rPr lang="en-IN" sz="1800" dirty="0" err="1">
                <a:solidFill>
                  <a:srgbClr val="000000"/>
                </a:solidFill>
                <a:effectLst/>
                <a:latin typeface="Cascadia Mono" panose="020B0609020000020004" pitchFamily="49" charset="0"/>
              </a:rPr>
              <a:t>category</a:t>
            </a:r>
            <a:endParaRPr lang="en-IN" sz="18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FBEE950D-1523-55F7-B3A8-6C879AC0AED8}"/>
              </a:ext>
            </a:extLst>
          </p:cNvPr>
          <p:cNvSpPr txBox="1"/>
          <p:nvPr/>
        </p:nvSpPr>
        <p:spPr>
          <a:xfrm>
            <a:off x="711200" y="4913383"/>
            <a:ext cx="2044700" cy="400110"/>
          </a:xfrm>
          <a:prstGeom prst="rect">
            <a:avLst/>
          </a:prstGeom>
          <a:noFill/>
        </p:spPr>
        <p:txBody>
          <a:bodyPr wrap="square" rtlCol="0">
            <a:spAutoFit/>
          </a:bodyPr>
          <a:lstStyle/>
          <a:p>
            <a:r>
              <a:rPr lang="en-IN" sz="2000" dirty="0"/>
              <a:t>Result -</a:t>
            </a:r>
          </a:p>
        </p:txBody>
      </p:sp>
      <p:pic>
        <p:nvPicPr>
          <p:cNvPr id="6" name="Picture 5">
            <a:extLst>
              <a:ext uri="{FF2B5EF4-FFF2-40B4-BE49-F238E27FC236}">
                <a16:creationId xmlns:a16="http://schemas.microsoft.com/office/drawing/2014/main" id="{5DCCEE63-2EDD-28AA-F925-F5C53FAA3CA0}"/>
              </a:ext>
            </a:extLst>
          </p:cNvPr>
          <p:cNvPicPr>
            <a:picLocks noChangeAspect="1"/>
          </p:cNvPicPr>
          <p:nvPr/>
        </p:nvPicPr>
        <p:blipFill>
          <a:blip r:embed="rId2"/>
          <a:stretch>
            <a:fillRect/>
          </a:stretch>
        </p:blipFill>
        <p:spPr>
          <a:xfrm>
            <a:off x="2082560" y="4357029"/>
            <a:ext cx="3683240" cy="1512817"/>
          </a:xfrm>
          <a:prstGeom prst="rect">
            <a:avLst/>
          </a:prstGeom>
          <a:ln>
            <a:solidFill>
              <a:schemeClr val="tx2">
                <a:lumMod val="50000"/>
              </a:schemeClr>
            </a:solidFill>
          </a:ln>
        </p:spPr>
      </p:pic>
      <p:pic>
        <p:nvPicPr>
          <p:cNvPr id="8" name="Picture 7">
            <a:extLst>
              <a:ext uri="{FF2B5EF4-FFF2-40B4-BE49-F238E27FC236}">
                <a16:creationId xmlns:a16="http://schemas.microsoft.com/office/drawing/2014/main" id="{A573EA49-C89C-4809-32E4-70A4215379B4}"/>
              </a:ext>
            </a:extLst>
          </p:cNvPr>
          <p:cNvPicPr>
            <a:picLocks noChangeAspect="1"/>
          </p:cNvPicPr>
          <p:nvPr/>
        </p:nvPicPr>
        <p:blipFill>
          <a:blip r:embed="rId3"/>
          <a:stretch>
            <a:fillRect/>
          </a:stretch>
        </p:blipFill>
        <p:spPr>
          <a:xfrm>
            <a:off x="6794501" y="3429000"/>
            <a:ext cx="4648450" cy="3098800"/>
          </a:xfrm>
          <a:prstGeom prst="rect">
            <a:avLst/>
          </a:prstGeom>
          <a:ln>
            <a:solidFill>
              <a:schemeClr val="tx1">
                <a:lumMod val="65000"/>
                <a:lumOff val="35000"/>
              </a:schemeClr>
            </a:solidFill>
          </a:ln>
        </p:spPr>
      </p:pic>
    </p:spTree>
    <p:extLst>
      <p:ext uri="{BB962C8B-B14F-4D97-AF65-F5344CB8AC3E}">
        <p14:creationId xmlns:p14="http://schemas.microsoft.com/office/powerpoint/2010/main" val="159481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69A211-B5D6-BEF8-5082-0DB5AD06EE59}"/>
              </a:ext>
            </a:extLst>
          </p:cNvPr>
          <p:cNvSpPr txBox="1"/>
          <p:nvPr/>
        </p:nvSpPr>
        <p:spPr>
          <a:xfrm>
            <a:off x="1008528" y="743010"/>
            <a:ext cx="8623300" cy="400110"/>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en-IN" sz="2000" dirty="0"/>
              <a:t>16.</a:t>
            </a:r>
            <a:r>
              <a:rPr lang="en-IN" b="1" dirty="0"/>
              <a:t> </a:t>
            </a:r>
            <a:r>
              <a:rPr kumimoji="0" lang="en-US" sz="2000" b="0" i="0" u="none" strike="noStrike" kern="1200" cap="none" spc="0" normalizeH="0" baseline="0" noProof="0" dirty="0">
                <a:ln>
                  <a:noFill/>
                </a:ln>
                <a:solidFill>
                  <a:prstClr val="black"/>
                </a:solidFill>
                <a:effectLst/>
                <a:uLnTx/>
                <a:uFillTx/>
                <a:latin typeface="Gill Sans MT" panose="020B0502020104020203"/>
                <a:ea typeface="+mn-ea"/>
                <a:cs typeface="+mn-cs"/>
              </a:rPr>
              <a:t>Find the max Difference(minutes) of each order placed on each day</a:t>
            </a:r>
          </a:p>
        </p:txBody>
      </p:sp>
      <p:sp>
        <p:nvSpPr>
          <p:cNvPr id="3" name="TextBox 2">
            <a:extLst>
              <a:ext uri="{FF2B5EF4-FFF2-40B4-BE49-F238E27FC236}">
                <a16:creationId xmlns:a16="http://schemas.microsoft.com/office/drawing/2014/main" id="{86E499B9-8F71-F495-1A19-465421DEE2C7}"/>
              </a:ext>
            </a:extLst>
          </p:cNvPr>
          <p:cNvSpPr txBox="1"/>
          <p:nvPr/>
        </p:nvSpPr>
        <p:spPr>
          <a:xfrm>
            <a:off x="1008528" y="1313676"/>
            <a:ext cx="10294471" cy="2808461"/>
          </a:xfrm>
          <a:prstGeom prst="rect">
            <a:avLst/>
          </a:prstGeom>
          <a:noFill/>
        </p:spPr>
        <p:txBody>
          <a:bodyPr wrap="square" rtlCol="0">
            <a:spAutoFit/>
          </a:bodyPr>
          <a:lstStyle/>
          <a:p>
            <a:pPr>
              <a:buNone/>
            </a:pPr>
            <a:r>
              <a:rPr lang="en-US" sz="2000" dirty="0"/>
              <a:t>Query - </a:t>
            </a:r>
          </a:p>
          <a:p>
            <a:pPr>
              <a:buNone/>
            </a:pPr>
            <a:endParaRPr lang="en-US" sz="1050" dirty="0">
              <a:solidFill>
                <a:srgbClr val="0000FF"/>
              </a:solidFill>
              <a:effectLst/>
              <a:latin typeface="Cascadia Mono" panose="020B0609020000020004" pitchFamily="49" charset="0"/>
            </a:endParaRPr>
          </a:p>
          <a:p>
            <a:pPr>
              <a:buNone/>
            </a:pPr>
            <a:r>
              <a:rPr lang="en-US" sz="1600" dirty="0">
                <a:solidFill>
                  <a:srgbClr val="0000FF"/>
                </a:solidFill>
                <a:effectLst/>
                <a:latin typeface="Cascadia Mono" panose="020B0609020000020004" pitchFamily="49" charset="0"/>
              </a:rPr>
              <a:t>with</a:t>
            </a:r>
            <a:r>
              <a:rPr lang="en-US" sz="1600" dirty="0">
                <a:solidFill>
                  <a:srgbClr val="000000"/>
                </a:solidFill>
                <a:effectLst/>
                <a:latin typeface="Cascadia Mono" panose="020B0609020000020004" pitchFamily="49" charset="0"/>
              </a:rPr>
              <a:t> </a:t>
            </a:r>
            <a:r>
              <a:rPr lang="en-US" sz="1600" dirty="0" err="1">
                <a:solidFill>
                  <a:srgbClr val="000000"/>
                </a:solidFill>
                <a:effectLst/>
                <a:latin typeface="Cascadia Mono" panose="020B0609020000020004" pitchFamily="49" charset="0"/>
              </a:rPr>
              <a:t>cte</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as </a:t>
            </a:r>
            <a:r>
              <a:rPr lang="en-US" sz="1600" dirty="0">
                <a:solidFill>
                  <a:srgbClr val="808080"/>
                </a:solidFill>
                <a:effectLst/>
                <a:latin typeface="Cascadia Mono" panose="020B0609020000020004" pitchFamily="49" charset="0"/>
              </a:rPr>
              <a:t>(</a:t>
            </a:r>
            <a:r>
              <a:rPr lang="en-US" sz="1600" dirty="0">
                <a:solidFill>
                  <a:srgbClr val="0000FF"/>
                </a:solidFill>
                <a:effectLst/>
                <a:latin typeface="Cascadia Mono" panose="020B0609020000020004" pitchFamily="49" charset="0"/>
              </a:rPr>
              <a:t>select</a:t>
            </a:r>
            <a:r>
              <a:rPr lang="en-US" sz="1600" dirty="0">
                <a:solidFill>
                  <a:srgbClr val="000000"/>
                </a:solidFill>
                <a:effectLst/>
                <a:latin typeface="Cascadia Mono" panose="020B0609020000020004" pitchFamily="49" charset="0"/>
              </a:rPr>
              <a:t> </a:t>
            </a:r>
            <a:r>
              <a:rPr lang="en-US" sz="1600" dirty="0">
                <a:solidFill>
                  <a:srgbClr val="808080"/>
                </a:solidFill>
                <a:effectLst/>
                <a:latin typeface="Cascadia Mono" panose="020B0609020000020004" pitchFamily="49" charset="0"/>
              </a:rPr>
              <a:t>*,</a:t>
            </a:r>
            <a:endParaRPr lang="en-US" sz="1600" dirty="0">
              <a:solidFill>
                <a:srgbClr val="000000"/>
              </a:solidFill>
              <a:effectLst/>
              <a:latin typeface="Cascadia Mono" panose="020B0609020000020004" pitchFamily="49" charset="0"/>
            </a:endParaRPr>
          </a:p>
          <a:p>
            <a:pPr>
              <a:buNone/>
            </a:pPr>
            <a:r>
              <a:rPr lang="en-US" sz="1600" dirty="0">
                <a:solidFill>
                  <a:srgbClr val="FF00FF"/>
                </a:solidFill>
                <a:effectLst/>
                <a:latin typeface="Cascadia Mono" panose="020B0609020000020004" pitchFamily="49" charset="0"/>
              </a:rPr>
              <a:t>lead</a:t>
            </a:r>
            <a:r>
              <a:rPr lang="en-US" sz="1600" dirty="0">
                <a:solidFill>
                  <a:srgbClr val="808080"/>
                </a:solidFill>
                <a:effectLst/>
                <a:latin typeface="Cascadia Mono" panose="020B0609020000020004" pitchFamily="49" charset="0"/>
              </a:rPr>
              <a:t>(</a:t>
            </a:r>
            <a:r>
              <a:rPr lang="en-US" sz="1600" dirty="0">
                <a:solidFill>
                  <a:srgbClr val="0000FF"/>
                </a:solidFill>
                <a:effectLst/>
                <a:latin typeface="Cascadia Mono" panose="020B0609020000020004" pitchFamily="49" charset="0"/>
              </a:rPr>
              <a:t>time</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over </a:t>
            </a:r>
            <a:r>
              <a:rPr lang="en-US" sz="1600" dirty="0">
                <a:solidFill>
                  <a:srgbClr val="808080"/>
                </a:solidFill>
                <a:effectLst/>
                <a:latin typeface="Cascadia Mono" panose="020B0609020000020004" pitchFamily="49" charset="0"/>
              </a:rPr>
              <a:t>(</a:t>
            </a:r>
            <a:r>
              <a:rPr lang="en-US" sz="1600" dirty="0">
                <a:solidFill>
                  <a:srgbClr val="0000FF"/>
                </a:solidFill>
                <a:effectLst/>
                <a:latin typeface="Cascadia Mono" panose="020B0609020000020004" pitchFamily="49" charset="0"/>
              </a:rPr>
              <a:t>partition</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by</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date</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order</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by</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time</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as</a:t>
            </a:r>
            <a:r>
              <a:rPr lang="en-US" sz="1600" dirty="0">
                <a:solidFill>
                  <a:srgbClr val="000000"/>
                </a:solidFill>
                <a:effectLst/>
                <a:latin typeface="Cascadia Mono" panose="020B0609020000020004" pitchFamily="49" charset="0"/>
              </a:rPr>
              <a:t> </a:t>
            </a:r>
            <a:r>
              <a:rPr lang="en-US" sz="1600" dirty="0" err="1">
                <a:solidFill>
                  <a:srgbClr val="000000"/>
                </a:solidFill>
                <a:latin typeface="Cascadia Mono" panose="020B0609020000020004" pitchFamily="49" charset="0"/>
              </a:rPr>
              <a:t>next_order_time</a:t>
            </a:r>
            <a:r>
              <a:rPr lang="en-US" sz="1600" dirty="0">
                <a:solidFill>
                  <a:srgbClr val="808080"/>
                </a:solidFill>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err="1">
                <a:solidFill>
                  <a:srgbClr val="FF00FF"/>
                </a:solidFill>
                <a:effectLst/>
                <a:latin typeface="Cascadia Mono" panose="020B0609020000020004" pitchFamily="49" charset="0"/>
              </a:rPr>
              <a:t>datediff</a:t>
            </a:r>
            <a:r>
              <a:rPr lang="en-US" sz="1600" dirty="0">
                <a:solidFill>
                  <a:srgbClr val="808080"/>
                </a:solidFill>
                <a:effectLst/>
                <a:latin typeface="Cascadia Mono" panose="020B0609020000020004" pitchFamily="49" charset="0"/>
              </a:rPr>
              <a:t>(</a:t>
            </a:r>
            <a:r>
              <a:rPr lang="en-US" sz="1600" dirty="0">
                <a:solidFill>
                  <a:srgbClr val="FF00FF"/>
                </a:solidFill>
                <a:effectLst/>
                <a:latin typeface="Cascadia Mono" panose="020B0609020000020004" pitchFamily="49" charset="0"/>
              </a:rPr>
              <a:t>minute</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time</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FF00FF"/>
                </a:solidFill>
                <a:effectLst/>
                <a:latin typeface="Cascadia Mono" panose="020B0609020000020004" pitchFamily="49" charset="0"/>
              </a:rPr>
              <a:t>lead</a:t>
            </a:r>
            <a:r>
              <a:rPr lang="en-US" sz="1600" dirty="0">
                <a:solidFill>
                  <a:srgbClr val="808080"/>
                </a:solidFill>
                <a:effectLst/>
                <a:latin typeface="Cascadia Mono" panose="020B0609020000020004" pitchFamily="49" charset="0"/>
              </a:rPr>
              <a:t>(</a:t>
            </a:r>
            <a:r>
              <a:rPr lang="en-US" sz="1600" dirty="0">
                <a:solidFill>
                  <a:srgbClr val="0000FF"/>
                </a:solidFill>
                <a:effectLst/>
                <a:latin typeface="Cascadia Mono" panose="020B0609020000020004" pitchFamily="49" charset="0"/>
              </a:rPr>
              <a:t>time</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over </a:t>
            </a:r>
            <a:r>
              <a:rPr lang="en-US" sz="1600" dirty="0">
                <a:solidFill>
                  <a:srgbClr val="808080"/>
                </a:solidFill>
                <a:effectLst/>
                <a:latin typeface="Cascadia Mono" panose="020B0609020000020004" pitchFamily="49" charset="0"/>
              </a:rPr>
              <a:t>(</a:t>
            </a:r>
            <a:r>
              <a:rPr lang="en-US" sz="1600" dirty="0">
                <a:solidFill>
                  <a:srgbClr val="0000FF"/>
                </a:solidFill>
                <a:effectLst/>
                <a:latin typeface="Cascadia Mono" panose="020B0609020000020004" pitchFamily="49" charset="0"/>
              </a:rPr>
              <a:t>partition</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by</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date</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order</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by</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time</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as</a:t>
            </a:r>
            <a:r>
              <a:rPr lang="en-US" sz="1600" dirty="0">
                <a:solidFill>
                  <a:srgbClr val="000000"/>
                </a:solidFill>
                <a:effectLst/>
                <a:latin typeface="Cascadia Mono" panose="020B0609020000020004" pitchFamily="49" charset="0"/>
              </a:rPr>
              <a:t> diff </a:t>
            </a:r>
            <a:r>
              <a:rPr lang="en-US" sz="1600" dirty="0">
                <a:solidFill>
                  <a:srgbClr val="0000FF"/>
                </a:solidFill>
                <a:effectLst/>
                <a:latin typeface="Cascadia Mono" panose="020B0609020000020004" pitchFamily="49" charset="0"/>
              </a:rPr>
              <a:t>from</a:t>
            </a:r>
            <a:r>
              <a:rPr lang="en-US" sz="1600" dirty="0">
                <a:solidFill>
                  <a:srgbClr val="000000"/>
                </a:solidFill>
                <a:effectLst/>
                <a:latin typeface="Cascadia Mono" panose="020B0609020000020004" pitchFamily="49" charset="0"/>
              </a:rPr>
              <a:t> orders</a:t>
            </a:r>
            <a:r>
              <a:rPr lang="en-US" sz="1600" dirty="0">
                <a:solidFill>
                  <a:srgbClr val="808080"/>
                </a:solidFill>
                <a:effectLst/>
                <a:latin typeface="Cascadia Mono" panose="020B0609020000020004" pitchFamily="49" charset="0"/>
              </a:rPr>
              <a:t>),</a:t>
            </a:r>
            <a:endParaRPr lang="en-US" sz="1600" dirty="0">
              <a:solidFill>
                <a:srgbClr val="000000"/>
              </a:solidFill>
              <a:effectLst/>
              <a:latin typeface="Cascadia Mono" panose="020B0609020000020004" pitchFamily="49" charset="0"/>
            </a:endParaRPr>
          </a:p>
          <a:p>
            <a:pPr>
              <a:buNone/>
            </a:pPr>
            <a:r>
              <a:rPr lang="en-US" sz="1600" dirty="0">
                <a:solidFill>
                  <a:srgbClr val="000000"/>
                </a:solidFill>
                <a:effectLst/>
                <a:latin typeface="Cascadia Mono" panose="020B0609020000020004" pitchFamily="49" charset="0"/>
              </a:rPr>
              <a:t>cte2 </a:t>
            </a:r>
            <a:r>
              <a:rPr lang="en-US" sz="1600" dirty="0">
                <a:solidFill>
                  <a:srgbClr val="0000FF"/>
                </a:solidFill>
                <a:effectLst/>
                <a:latin typeface="Cascadia Mono" panose="020B0609020000020004" pitchFamily="49" charset="0"/>
              </a:rPr>
              <a:t>as </a:t>
            </a:r>
            <a:r>
              <a:rPr lang="en-US" sz="1600" dirty="0">
                <a:solidFill>
                  <a:srgbClr val="808080"/>
                </a:solidFill>
                <a:effectLst/>
                <a:latin typeface="Cascadia Mono" panose="020B0609020000020004" pitchFamily="49" charset="0"/>
              </a:rPr>
              <a:t>(</a:t>
            </a:r>
            <a:r>
              <a:rPr lang="en-US" sz="1600" dirty="0">
                <a:solidFill>
                  <a:srgbClr val="0000FF"/>
                </a:solidFill>
                <a:effectLst/>
                <a:latin typeface="Cascadia Mono" panose="020B0609020000020004" pitchFamily="49" charset="0"/>
              </a:rPr>
              <a:t>select</a:t>
            </a:r>
            <a:r>
              <a:rPr lang="en-US" sz="1600" dirty="0">
                <a:solidFill>
                  <a:srgbClr val="000000"/>
                </a:solidFill>
                <a:effectLst/>
                <a:latin typeface="Cascadia Mono" panose="020B0609020000020004" pitchFamily="49" charset="0"/>
              </a:rPr>
              <a:t> </a:t>
            </a:r>
            <a:r>
              <a:rPr lang="en-US" sz="1600" dirty="0">
                <a:solidFill>
                  <a:srgbClr val="808080"/>
                </a:solidFill>
                <a:effectLst/>
                <a:latin typeface="Cascadia Mono" panose="020B0609020000020004" pitchFamily="49" charset="0"/>
              </a:rPr>
              <a:t>*,</a:t>
            </a:r>
            <a:r>
              <a:rPr lang="en-US" sz="1600" dirty="0" err="1">
                <a:solidFill>
                  <a:srgbClr val="FF00FF"/>
                </a:solidFill>
                <a:effectLst/>
                <a:latin typeface="Cascadia Mono" panose="020B0609020000020004" pitchFamily="49" charset="0"/>
              </a:rPr>
              <a:t>dense_rank</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over </a:t>
            </a:r>
            <a:r>
              <a:rPr lang="en-US" sz="1600" dirty="0">
                <a:solidFill>
                  <a:srgbClr val="808080"/>
                </a:solidFill>
                <a:effectLst/>
                <a:latin typeface="Cascadia Mono" panose="020B0609020000020004" pitchFamily="49" charset="0"/>
              </a:rPr>
              <a:t>(</a:t>
            </a:r>
            <a:r>
              <a:rPr lang="en-US" sz="1600" dirty="0">
                <a:solidFill>
                  <a:srgbClr val="0000FF"/>
                </a:solidFill>
                <a:effectLst/>
                <a:latin typeface="Cascadia Mono" panose="020B0609020000020004" pitchFamily="49" charset="0"/>
              </a:rPr>
              <a:t>partition</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by</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date</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order</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by</a:t>
            </a:r>
            <a:r>
              <a:rPr lang="en-US" sz="1600" dirty="0">
                <a:solidFill>
                  <a:srgbClr val="000000"/>
                </a:solidFill>
                <a:effectLst/>
                <a:latin typeface="Cascadia Mono" panose="020B0609020000020004" pitchFamily="49" charset="0"/>
              </a:rPr>
              <a:t> diff </a:t>
            </a:r>
            <a:r>
              <a:rPr lang="en-US" sz="1600" dirty="0">
                <a:solidFill>
                  <a:srgbClr val="0000FF"/>
                </a:solidFill>
                <a:effectLst/>
                <a:latin typeface="Cascadia Mono" panose="020B0609020000020004" pitchFamily="49" charset="0"/>
              </a:rPr>
              <a:t>desc</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as</a:t>
            </a:r>
            <a:r>
              <a:rPr lang="en-US" sz="1600" dirty="0">
                <a:solidFill>
                  <a:srgbClr val="000000"/>
                </a:solidFill>
                <a:effectLst/>
                <a:latin typeface="Cascadia Mono" panose="020B0609020000020004" pitchFamily="49" charset="0"/>
              </a:rPr>
              <a:t> </a:t>
            </a:r>
            <a:r>
              <a:rPr lang="en-US" sz="1600" dirty="0" err="1">
                <a:solidFill>
                  <a:srgbClr val="000000"/>
                </a:solidFill>
                <a:effectLst/>
                <a:latin typeface="Cascadia Mono" panose="020B0609020000020004" pitchFamily="49" charset="0"/>
              </a:rPr>
              <a:t>rnk</a:t>
            </a:r>
            <a:r>
              <a:rPr lang="en-US" sz="1600" dirty="0">
                <a:solidFill>
                  <a:srgbClr val="000000"/>
                </a:solidFill>
                <a:latin typeface="Cascadia Mono" panose="020B0609020000020004" pitchFamily="49" charset="0"/>
              </a:rPr>
              <a:t> </a:t>
            </a:r>
            <a:r>
              <a:rPr lang="en-US" sz="1600" dirty="0">
                <a:solidFill>
                  <a:srgbClr val="0000FF"/>
                </a:solidFill>
                <a:effectLst/>
                <a:latin typeface="Cascadia Mono" panose="020B0609020000020004" pitchFamily="49" charset="0"/>
              </a:rPr>
              <a:t>from</a:t>
            </a:r>
            <a:r>
              <a:rPr lang="en-US" sz="1600" dirty="0">
                <a:solidFill>
                  <a:srgbClr val="000000"/>
                </a:solidFill>
                <a:effectLst/>
                <a:latin typeface="Cascadia Mono" panose="020B0609020000020004" pitchFamily="49" charset="0"/>
              </a:rPr>
              <a:t> </a:t>
            </a:r>
            <a:r>
              <a:rPr lang="en-US" sz="1600" dirty="0" err="1">
                <a:solidFill>
                  <a:srgbClr val="000000"/>
                </a:solidFill>
                <a:effectLst/>
                <a:latin typeface="Cascadia Mono" panose="020B0609020000020004" pitchFamily="49" charset="0"/>
              </a:rPr>
              <a:t>cte</a:t>
            </a:r>
            <a:r>
              <a:rPr lang="en-US" sz="1600" dirty="0">
                <a:solidFill>
                  <a:srgbClr val="808080"/>
                </a:solidFill>
                <a:effectLst/>
                <a:latin typeface="Cascadia Mono" panose="020B0609020000020004" pitchFamily="49" charset="0"/>
              </a:rPr>
              <a:t>)</a:t>
            </a:r>
            <a:endParaRPr lang="en-US" sz="1600" dirty="0">
              <a:solidFill>
                <a:srgbClr val="000000"/>
              </a:solidFill>
              <a:effectLst/>
              <a:latin typeface="Cascadia Mono" panose="020B0609020000020004" pitchFamily="49" charset="0"/>
            </a:endParaRPr>
          </a:p>
          <a:p>
            <a:pPr>
              <a:buNone/>
            </a:pPr>
            <a:r>
              <a:rPr lang="en-US" sz="1600" dirty="0">
                <a:solidFill>
                  <a:srgbClr val="0000FF"/>
                </a:solidFill>
                <a:effectLst/>
                <a:latin typeface="Cascadia Mono" panose="020B0609020000020004" pitchFamily="49" charset="0"/>
              </a:rPr>
              <a:t>select</a:t>
            </a:r>
            <a:r>
              <a:rPr lang="en-US" sz="1600" dirty="0">
                <a:solidFill>
                  <a:srgbClr val="000000"/>
                </a:solidFill>
                <a:effectLst/>
                <a:latin typeface="Cascadia Mono" panose="020B0609020000020004" pitchFamily="49" charset="0"/>
              </a:rPr>
              <a:t> </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a:t>
            </a:r>
            <a:r>
              <a:rPr lang="en-US" sz="1600" dirty="0">
                <a:solidFill>
                  <a:srgbClr val="0000FF"/>
                </a:solidFill>
                <a:effectLst/>
                <a:latin typeface="Cascadia Mono" panose="020B0609020000020004" pitchFamily="49" charset="0"/>
              </a:rPr>
              <a:t>from</a:t>
            </a:r>
            <a:r>
              <a:rPr lang="en-US" sz="1600" dirty="0">
                <a:solidFill>
                  <a:srgbClr val="000000"/>
                </a:solidFill>
                <a:effectLst/>
                <a:latin typeface="Cascadia Mono" panose="020B0609020000020004" pitchFamily="49" charset="0"/>
              </a:rPr>
              <a:t> cte2 </a:t>
            </a:r>
          </a:p>
          <a:p>
            <a:pPr>
              <a:buNone/>
            </a:pPr>
            <a:r>
              <a:rPr lang="en-US" sz="1600" dirty="0">
                <a:solidFill>
                  <a:srgbClr val="0000FF"/>
                </a:solidFill>
                <a:effectLst/>
                <a:latin typeface="Cascadia Mono" panose="020B0609020000020004" pitchFamily="49" charset="0"/>
              </a:rPr>
              <a:t>where</a:t>
            </a:r>
            <a:r>
              <a:rPr lang="en-US" sz="1600" dirty="0">
                <a:solidFill>
                  <a:srgbClr val="000000"/>
                </a:solidFill>
                <a:effectLst/>
                <a:latin typeface="Cascadia Mono" panose="020B0609020000020004" pitchFamily="49" charset="0"/>
              </a:rPr>
              <a:t> </a:t>
            </a:r>
            <a:r>
              <a:rPr lang="en-US" sz="1600" dirty="0" err="1">
                <a:solidFill>
                  <a:srgbClr val="000000"/>
                </a:solidFill>
                <a:effectLst/>
                <a:latin typeface="Cascadia Mono" panose="020B0609020000020004" pitchFamily="49" charset="0"/>
              </a:rPr>
              <a:t>rnk</a:t>
            </a:r>
            <a:r>
              <a:rPr lang="en-US" sz="1600" dirty="0">
                <a:solidFill>
                  <a:srgbClr val="000000"/>
                </a:solidFill>
                <a:effectLst/>
                <a:latin typeface="Cascadia Mono" panose="020B0609020000020004" pitchFamily="49" charset="0"/>
              </a:rPr>
              <a:t> </a:t>
            </a:r>
            <a:r>
              <a:rPr lang="en-US" sz="1600" dirty="0">
                <a:solidFill>
                  <a:srgbClr val="808080"/>
                </a:solidFill>
                <a:effectLst/>
                <a:latin typeface="Cascadia Mono" panose="020B0609020000020004" pitchFamily="49" charset="0"/>
              </a:rPr>
              <a:t>=</a:t>
            </a:r>
            <a:r>
              <a:rPr lang="en-US" sz="1600" dirty="0">
                <a:solidFill>
                  <a:srgbClr val="000000"/>
                </a:solidFill>
                <a:effectLst/>
                <a:latin typeface="Cascadia Mono" panose="020B0609020000020004" pitchFamily="49" charset="0"/>
              </a:rPr>
              <a:t> 1</a:t>
            </a:r>
          </a:p>
          <a:p>
            <a:endParaRPr lang="en-IN" dirty="0"/>
          </a:p>
        </p:txBody>
      </p:sp>
      <p:pic>
        <p:nvPicPr>
          <p:cNvPr id="15" name="Picture 14">
            <a:extLst>
              <a:ext uri="{FF2B5EF4-FFF2-40B4-BE49-F238E27FC236}">
                <a16:creationId xmlns:a16="http://schemas.microsoft.com/office/drawing/2014/main" id="{96B75222-11C7-9A1C-5EFC-2FE709B5BB5E}"/>
              </a:ext>
            </a:extLst>
          </p:cNvPr>
          <p:cNvPicPr>
            <a:picLocks noChangeAspect="1"/>
          </p:cNvPicPr>
          <p:nvPr/>
        </p:nvPicPr>
        <p:blipFill>
          <a:blip r:embed="rId2"/>
          <a:stretch>
            <a:fillRect/>
          </a:stretch>
        </p:blipFill>
        <p:spPr>
          <a:xfrm>
            <a:off x="3417603" y="3890002"/>
            <a:ext cx="4024598" cy="2905530"/>
          </a:xfrm>
          <a:prstGeom prst="rect">
            <a:avLst/>
          </a:prstGeom>
          <a:ln>
            <a:solidFill>
              <a:schemeClr val="tx1">
                <a:lumMod val="65000"/>
                <a:lumOff val="35000"/>
              </a:schemeClr>
            </a:solidFill>
          </a:ln>
        </p:spPr>
      </p:pic>
      <p:sp>
        <p:nvSpPr>
          <p:cNvPr id="16" name="TextBox 15">
            <a:extLst>
              <a:ext uri="{FF2B5EF4-FFF2-40B4-BE49-F238E27FC236}">
                <a16:creationId xmlns:a16="http://schemas.microsoft.com/office/drawing/2014/main" id="{81E367CD-DAAA-038F-50A0-8B0ED325AF8B}"/>
              </a:ext>
            </a:extLst>
          </p:cNvPr>
          <p:cNvSpPr txBox="1"/>
          <p:nvPr/>
        </p:nvSpPr>
        <p:spPr>
          <a:xfrm>
            <a:off x="1008528" y="3922082"/>
            <a:ext cx="1721972" cy="400110"/>
          </a:xfrm>
          <a:prstGeom prst="rect">
            <a:avLst/>
          </a:prstGeom>
          <a:noFill/>
        </p:spPr>
        <p:txBody>
          <a:bodyPr wrap="square" rtlCol="0">
            <a:spAutoFit/>
          </a:bodyPr>
          <a:lstStyle/>
          <a:p>
            <a:r>
              <a:rPr lang="en-IN" sz="2000" dirty="0"/>
              <a:t>Result - </a:t>
            </a:r>
          </a:p>
        </p:txBody>
      </p:sp>
      <p:sp>
        <p:nvSpPr>
          <p:cNvPr id="17" name="TextBox 16">
            <a:extLst>
              <a:ext uri="{FF2B5EF4-FFF2-40B4-BE49-F238E27FC236}">
                <a16:creationId xmlns:a16="http://schemas.microsoft.com/office/drawing/2014/main" id="{0B45D8B3-F95F-1424-DE83-7A0C0E9551EF}"/>
              </a:ext>
            </a:extLst>
          </p:cNvPr>
          <p:cNvSpPr txBox="1"/>
          <p:nvPr/>
        </p:nvSpPr>
        <p:spPr>
          <a:xfrm>
            <a:off x="8129304" y="5453270"/>
            <a:ext cx="3873500" cy="1323439"/>
          </a:xfrm>
          <a:prstGeom prst="rect">
            <a:avLst/>
          </a:prstGeom>
          <a:noFill/>
        </p:spPr>
        <p:txBody>
          <a:bodyPr wrap="square" rtlCol="0">
            <a:spAutoFit/>
          </a:bodyPr>
          <a:lstStyle/>
          <a:p>
            <a:r>
              <a:rPr lang="en-US" sz="1600" b="1" dirty="0">
                <a:latin typeface="Aptos Display" panose="020B0004020202020204" pitchFamily="34" charset="0"/>
              </a:rPr>
              <a:t>NOTE:</a:t>
            </a:r>
            <a:r>
              <a:rPr lang="en-US" sz="1600" dirty="0">
                <a:latin typeface="Aptos Display" panose="020B0004020202020204" pitchFamily="34" charset="0"/>
              </a:rPr>
              <a:t> Total rows calculated: </a:t>
            </a:r>
            <a:r>
              <a:rPr lang="en-US" sz="1600" b="1" dirty="0">
                <a:latin typeface="Aptos Display" panose="020B0004020202020204" pitchFamily="34" charset="0"/>
              </a:rPr>
              <a:t>364</a:t>
            </a:r>
            <a:r>
              <a:rPr lang="en-US" sz="1600" dirty="0">
                <a:latin typeface="Aptos Display" panose="020B0004020202020204" pitchFamily="34" charset="0"/>
              </a:rPr>
              <a:t>. To maintain presentation legibility and keep the slide uncluttered, the table displays a targeted 15-day snapshot illustrating the query's precision tracking.</a:t>
            </a:r>
            <a:endParaRPr lang="en-IN" sz="1600" dirty="0">
              <a:latin typeface="Aptos Display" panose="020B0004020202020204" pitchFamily="34" charset="0"/>
            </a:endParaRPr>
          </a:p>
        </p:txBody>
      </p:sp>
    </p:spTree>
    <p:extLst>
      <p:ext uri="{BB962C8B-B14F-4D97-AF65-F5344CB8AC3E}">
        <p14:creationId xmlns:p14="http://schemas.microsoft.com/office/powerpoint/2010/main" val="1984284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833B57-EC40-AE9A-A512-56AB179ACCE5}"/>
              </a:ext>
            </a:extLst>
          </p:cNvPr>
          <p:cNvSpPr txBox="1"/>
          <p:nvPr/>
        </p:nvSpPr>
        <p:spPr>
          <a:xfrm>
            <a:off x="648446" y="676489"/>
            <a:ext cx="8623300" cy="400110"/>
          </a:xfrm>
          <a:prstGeom prst="rect">
            <a:avLst/>
          </a:prstGeom>
          <a:noFill/>
        </p:spPr>
        <p:txBody>
          <a:bodyPr wrap="square" rtlCol="0">
            <a:spAutoFit/>
          </a:bodyPr>
          <a:lstStyle/>
          <a:p>
            <a:r>
              <a:rPr lang="en-US" sz="2000" dirty="0"/>
              <a:t>17.find the rolling avg sales of last 3 months</a:t>
            </a:r>
          </a:p>
        </p:txBody>
      </p:sp>
      <p:sp>
        <p:nvSpPr>
          <p:cNvPr id="3" name="TextBox 2">
            <a:extLst>
              <a:ext uri="{FF2B5EF4-FFF2-40B4-BE49-F238E27FC236}">
                <a16:creationId xmlns:a16="http://schemas.microsoft.com/office/drawing/2014/main" id="{FF32E918-BA66-6DC9-7149-F0B6907B5606}"/>
              </a:ext>
            </a:extLst>
          </p:cNvPr>
          <p:cNvSpPr txBox="1"/>
          <p:nvPr/>
        </p:nvSpPr>
        <p:spPr>
          <a:xfrm>
            <a:off x="1916951" y="1166844"/>
            <a:ext cx="10148049" cy="2308324"/>
          </a:xfrm>
          <a:prstGeom prst="rect">
            <a:avLst/>
          </a:prstGeom>
          <a:noFill/>
        </p:spPr>
        <p:txBody>
          <a:bodyPr wrap="square" rtlCol="0">
            <a:spAutoFit/>
          </a:bodyPr>
          <a:lstStyle/>
          <a:p>
            <a:pPr>
              <a:buNone/>
            </a:pPr>
            <a:r>
              <a:rPr lang="en-IN" sz="1600" dirty="0">
                <a:solidFill>
                  <a:srgbClr val="0000FF"/>
                </a:solidFill>
                <a:effectLst/>
                <a:latin typeface="Cascadia Mono" panose="020B0609020000020004" pitchFamily="49" charset="0"/>
              </a:rPr>
              <a:t>with</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cte</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 </a:t>
            </a:r>
            <a:r>
              <a:rPr lang="en-IN" sz="1600" dirty="0">
                <a:solidFill>
                  <a:srgbClr val="808080"/>
                </a:solidFill>
                <a:effectLst/>
                <a:latin typeface="Cascadia Mono" panose="020B0609020000020004" pitchFamily="49" charset="0"/>
              </a:rPr>
              <a:t>(</a:t>
            </a:r>
            <a:r>
              <a:rPr lang="en-IN" sz="1600" dirty="0">
                <a:solidFill>
                  <a:srgbClr val="0000FF"/>
                </a:solidFill>
                <a:effectLst/>
                <a:latin typeface="Cascadia Mono" panose="020B0609020000020004" pitchFamily="49" charset="0"/>
              </a:rPr>
              <a:t>select</a:t>
            </a:r>
            <a:r>
              <a:rPr lang="en-IN" sz="1600" dirty="0">
                <a:solidFill>
                  <a:srgbClr val="000000"/>
                </a:solidFill>
                <a:effectLst/>
                <a:latin typeface="Cascadia Mono" panose="020B0609020000020004" pitchFamily="49" charset="0"/>
              </a:rPr>
              <a:t> </a:t>
            </a:r>
            <a:r>
              <a:rPr lang="en-IN" sz="1600" dirty="0" err="1">
                <a:solidFill>
                  <a:srgbClr val="FF00FF"/>
                </a:solidFill>
                <a:effectLst/>
                <a:latin typeface="Cascadia Mono" panose="020B0609020000020004" pitchFamily="49" charset="0"/>
              </a:rPr>
              <a:t>datepart</a:t>
            </a:r>
            <a:r>
              <a:rPr lang="en-IN" sz="1600" dirty="0">
                <a:solidFill>
                  <a:srgbClr val="808080"/>
                </a:solidFill>
                <a:effectLst/>
                <a:latin typeface="Cascadia Mono" panose="020B0609020000020004" pitchFamily="49" charset="0"/>
              </a:rPr>
              <a:t>(</a:t>
            </a:r>
            <a:r>
              <a:rPr lang="en-IN" sz="1600" dirty="0">
                <a:solidFill>
                  <a:srgbClr val="FF00FF"/>
                </a:solidFill>
                <a:effectLst/>
                <a:latin typeface="Cascadia Mono" panose="020B0609020000020004" pitchFamily="49" charset="0"/>
              </a:rPr>
              <a:t>month</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a:t>
            </a:r>
            <a:r>
              <a:rPr lang="en-IN" sz="1600" dirty="0" err="1">
                <a:solidFill>
                  <a:srgbClr val="808080"/>
                </a:solidFill>
                <a:effectLst/>
                <a:latin typeface="Cascadia Mono" panose="020B0609020000020004" pitchFamily="49" charset="0"/>
              </a:rPr>
              <a:t>.</a:t>
            </a:r>
            <a:r>
              <a:rPr lang="en-IN" sz="1600" dirty="0" err="1">
                <a:solidFill>
                  <a:srgbClr val="0000FF"/>
                </a:solidFill>
                <a:effectLst/>
                <a:latin typeface="Cascadia Mono" panose="020B0609020000020004" pitchFamily="49" charset="0"/>
              </a:rPr>
              <a:t>date</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sales_month</a:t>
            </a:r>
            <a:r>
              <a:rPr lang="en-IN" sz="1600" dirty="0">
                <a:solidFill>
                  <a:srgbClr val="808080"/>
                </a:solidFill>
                <a:effectLst/>
                <a:latin typeface="Cascadia Mono" panose="020B0609020000020004" pitchFamily="49" charset="0"/>
              </a:rPr>
              <a:t>,</a:t>
            </a:r>
            <a:endParaRPr lang="en-IN" sz="1600" dirty="0">
              <a:solidFill>
                <a:srgbClr val="000000"/>
              </a:solidFill>
              <a:effectLst/>
              <a:latin typeface="Cascadia Mono" panose="020B0609020000020004" pitchFamily="49" charset="0"/>
            </a:endParaRPr>
          </a:p>
          <a:p>
            <a:pPr>
              <a:buNone/>
            </a:pPr>
            <a:r>
              <a:rPr lang="en-IN" sz="1600" dirty="0">
                <a:solidFill>
                  <a:srgbClr val="FF00FF"/>
                </a:solidFill>
                <a:effectLst/>
                <a:latin typeface="Cascadia Mono" panose="020B0609020000020004" pitchFamily="49" charset="0"/>
              </a:rPr>
              <a:t>round</a:t>
            </a:r>
            <a:r>
              <a:rPr lang="en-IN" sz="1600" dirty="0">
                <a:solidFill>
                  <a:srgbClr val="808080"/>
                </a:solidFill>
                <a:effectLst/>
                <a:latin typeface="Cascadia Mono" panose="020B0609020000020004" pitchFamily="49" charset="0"/>
              </a:rPr>
              <a:t>(</a:t>
            </a:r>
            <a:r>
              <a:rPr lang="en-IN" sz="1600" dirty="0">
                <a:solidFill>
                  <a:srgbClr val="FF00FF"/>
                </a:solidFill>
                <a:effectLst/>
                <a:latin typeface="Cascadia Mono" panose="020B0609020000020004" pitchFamily="49" charset="0"/>
              </a:rPr>
              <a:t>sum</a:t>
            </a:r>
            <a:r>
              <a:rPr lang="en-IN" sz="1600" dirty="0">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od</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quantity</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p</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price</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2</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total_revenue</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from</a:t>
            </a:r>
            <a:r>
              <a:rPr lang="en-IN" sz="1600" dirty="0">
                <a:solidFill>
                  <a:srgbClr val="000000"/>
                </a:solidFill>
                <a:effectLst/>
                <a:latin typeface="Cascadia Mono" panose="020B0609020000020004" pitchFamily="49" charset="0"/>
              </a:rPr>
              <a:t> orders o </a:t>
            </a:r>
            <a:r>
              <a:rPr lang="en-IN" sz="1600" dirty="0">
                <a:solidFill>
                  <a:srgbClr val="808080"/>
                </a:solidFill>
                <a:effectLst/>
                <a:latin typeface="Cascadia Mono" panose="020B0609020000020004" pitchFamily="49" charset="0"/>
              </a:rPr>
              <a:t>join</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order_details</a:t>
            </a:r>
            <a:r>
              <a:rPr lang="en-IN" sz="1600" dirty="0">
                <a:solidFill>
                  <a:srgbClr val="000000"/>
                </a:solidFill>
                <a:effectLst/>
                <a:latin typeface="Cascadia Mono" panose="020B0609020000020004" pitchFamily="49" charset="0"/>
              </a:rPr>
              <a:t> od </a:t>
            </a:r>
            <a:r>
              <a:rPr lang="en-IN" sz="1600" dirty="0">
                <a:solidFill>
                  <a:srgbClr val="0000FF"/>
                </a:solidFill>
                <a:effectLst/>
                <a:latin typeface="Cascadia Mono" panose="020B0609020000020004" pitchFamily="49" charset="0"/>
              </a:rPr>
              <a:t>on</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order_id</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od</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order_id</a:t>
            </a:r>
            <a:endParaRPr lang="en-IN" sz="1600" dirty="0">
              <a:solidFill>
                <a:srgbClr val="000000"/>
              </a:solidFill>
              <a:effectLst/>
              <a:latin typeface="Cascadia Mono" panose="020B0609020000020004" pitchFamily="49" charset="0"/>
            </a:endParaRPr>
          </a:p>
          <a:p>
            <a:pPr>
              <a:buNone/>
            </a:pPr>
            <a:r>
              <a:rPr lang="en-IN" sz="1600" dirty="0">
                <a:solidFill>
                  <a:srgbClr val="808080"/>
                </a:solidFill>
                <a:effectLst/>
                <a:latin typeface="Cascadia Mono" panose="020B0609020000020004" pitchFamily="49" charset="0"/>
              </a:rPr>
              <a:t>join</a:t>
            </a:r>
            <a:r>
              <a:rPr lang="en-IN" sz="1600" dirty="0">
                <a:solidFill>
                  <a:srgbClr val="000000"/>
                </a:solidFill>
                <a:effectLst/>
                <a:latin typeface="Cascadia Mono" panose="020B0609020000020004" pitchFamily="49" charset="0"/>
              </a:rPr>
              <a:t> pizzas p </a:t>
            </a:r>
            <a:r>
              <a:rPr lang="en-IN" sz="1600" dirty="0">
                <a:solidFill>
                  <a:srgbClr val="0000FF"/>
                </a:solidFill>
                <a:effectLst/>
                <a:latin typeface="Cascadia Mono" panose="020B0609020000020004" pitchFamily="49" charset="0"/>
              </a:rPr>
              <a:t>on</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od</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pizza_id</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p</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pizza_id</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group</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by</a:t>
            </a:r>
            <a:r>
              <a:rPr lang="en-IN" sz="1600" dirty="0">
                <a:solidFill>
                  <a:srgbClr val="000000"/>
                </a:solidFill>
                <a:effectLst/>
                <a:latin typeface="Cascadia Mono" panose="020B0609020000020004" pitchFamily="49" charset="0"/>
              </a:rPr>
              <a:t> </a:t>
            </a:r>
            <a:r>
              <a:rPr lang="en-IN" sz="1600" dirty="0" err="1">
                <a:solidFill>
                  <a:srgbClr val="FF00FF"/>
                </a:solidFill>
                <a:effectLst/>
                <a:latin typeface="Cascadia Mono" panose="020B0609020000020004" pitchFamily="49" charset="0"/>
              </a:rPr>
              <a:t>datepart</a:t>
            </a:r>
            <a:r>
              <a:rPr lang="en-IN" sz="1600" dirty="0">
                <a:solidFill>
                  <a:srgbClr val="808080"/>
                </a:solidFill>
                <a:effectLst/>
                <a:latin typeface="Cascadia Mono" panose="020B0609020000020004" pitchFamily="49" charset="0"/>
              </a:rPr>
              <a:t>(</a:t>
            </a:r>
            <a:r>
              <a:rPr lang="en-IN" sz="1600" dirty="0">
                <a:solidFill>
                  <a:srgbClr val="FF00FF"/>
                </a:solidFill>
                <a:effectLst/>
                <a:latin typeface="Cascadia Mono" panose="020B0609020000020004" pitchFamily="49" charset="0"/>
              </a:rPr>
              <a:t>month</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a:t>
            </a:r>
            <a:r>
              <a:rPr lang="en-IN" sz="1600" dirty="0" err="1">
                <a:solidFill>
                  <a:srgbClr val="808080"/>
                </a:solidFill>
                <a:effectLst/>
                <a:latin typeface="Cascadia Mono" panose="020B0609020000020004" pitchFamily="49" charset="0"/>
              </a:rPr>
              <a:t>.</a:t>
            </a:r>
            <a:r>
              <a:rPr lang="en-IN" sz="1600" dirty="0" err="1">
                <a:solidFill>
                  <a:srgbClr val="0000FF"/>
                </a:solidFill>
                <a:effectLst/>
                <a:latin typeface="Cascadia Mono" panose="020B0609020000020004" pitchFamily="49" charset="0"/>
              </a:rPr>
              <a:t>date</a:t>
            </a:r>
            <a:r>
              <a:rPr lang="en-IN" sz="1600" dirty="0">
                <a:solidFill>
                  <a:srgbClr val="808080"/>
                </a:solidFill>
                <a:effectLst/>
                <a:latin typeface="Cascadia Mono" panose="020B0609020000020004" pitchFamily="49" charset="0"/>
              </a:rPr>
              <a:t>))</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select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sales_month</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total_revenue</a:t>
            </a:r>
            <a:r>
              <a:rPr lang="en-IN" sz="1600" dirty="0" err="1">
                <a:solidFill>
                  <a:srgbClr val="808080"/>
                </a:solidFill>
                <a:effectLst/>
                <a:latin typeface="Cascadia Mono" panose="020B0609020000020004" pitchFamily="49" charset="0"/>
              </a:rPr>
              <a:t>,</a:t>
            </a:r>
            <a:r>
              <a:rPr lang="en-IN" sz="1600" dirty="0" err="1">
                <a:solidFill>
                  <a:srgbClr val="FF00FF"/>
                </a:solidFill>
                <a:effectLst/>
                <a:latin typeface="Cascadia Mono" panose="020B0609020000020004" pitchFamily="49" charset="0"/>
              </a:rPr>
              <a:t>round</a:t>
            </a:r>
            <a:r>
              <a:rPr lang="en-IN" sz="1600" dirty="0">
                <a:solidFill>
                  <a:srgbClr val="808080"/>
                </a:solidFill>
                <a:effectLst/>
                <a:latin typeface="Cascadia Mono" panose="020B0609020000020004" pitchFamily="49" charset="0"/>
              </a:rPr>
              <a:t>(</a:t>
            </a:r>
            <a:r>
              <a:rPr lang="en-IN" sz="1600" dirty="0" err="1">
                <a:solidFill>
                  <a:srgbClr val="FF00FF"/>
                </a:solidFill>
                <a:effectLst/>
                <a:latin typeface="Cascadia Mono" panose="020B0609020000020004" pitchFamily="49" charset="0"/>
              </a:rPr>
              <a:t>avg</a:t>
            </a:r>
            <a:r>
              <a:rPr lang="en-IN" sz="1600" dirty="0">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total_revenue</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p>
          <a:p>
            <a:pPr>
              <a:buNone/>
            </a:pPr>
            <a:r>
              <a:rPr lang="en-IN" sz="1600" dirty="0">
                <a:solidFill>
                  <a:srgbClr val="0000FF"/>
                </a:solidFill>
                <a:effectLst/>
                <a:latin typeface="Cascadia Mono" panose="020B0609020000020004" pitchFamily="49" charset="0"/>
              </a:rPr>
              <a:t>over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order</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by</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sales_month</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rows</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between</a:t>
            </a:r>
            <a:r>
              <a:rPr lang="en-IN" sz="1600" dirty="0">
                <a:solidFill>
                  <a:srgbClr val="000000"/>
                </a:solidFill>
                <a:effectLst/>
                <a:latin typeface="Cascadia Mono" panose="020B0609020000020004" pitchFamily="49" charset="0"/>
              </a:rPr>
              <a:t> 2 </a:t>
            </a:r>
            <a:r>
              <a:rPr lang="en-IN" sz="1600" dirty="0">
                <a:solidFill>
                  <a:srgbClr val="0000FF"/>
                </a:solidFill>
                <a:effectLst/>
                <a:latin typeface="Cascadia Mono" panose="020B0609020000020004" pitchFamily="49" charset="0"/>
              </a:rPr>
              <a:t>preceding</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and</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current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row</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2</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a:t>
            </a:r>
            <a:r>
              <a:rPr lang="en-IN" sz="1600" dirty="0">
                <a:solidFill>
                  <a:srgbClr val="000000"/>
                </a:solidFill>
                <a:effectLst/>
                <a:latin typeface="Cascadia Mono" panose="020B0609020000020004" pitchFamily="49" charset="0"/>
              </a:rPr>
              <a:t> rolling_3_month_avg</a:t>
            </a:r>
          </a:p>
          <a:p>
            <a:pPr>
              <a:buNone/>
            </a:pPr>
            <a:r>
              <a:rPr lang="en-IN" sz="1600" dirty="0">
                <a:solidFill>
                  <a:srgbClr val="0000FF"/>
                </a:solidFill>
                <a:effectLst/>
                <a:latin typeface="Cascadia Mono" panose="020B0609020000020004" pitchFamily="49" charset="0"/>
              </a:rPr>
              <a:t>from</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cte</a:t>
            </a:r>
            <a:endParaRPr lang="en-IN" sz="1600" dirty="0">
              <a:solidFill>
                <a:srgbClr val="000000"/>
              </a:solidFill>
              <a:effectLst/>
              <a:latin typeface="Cascadia Mono" panose="020B0609020000020004" pitchFamily="49" charset="0"/>
            </a:endParaRPr>
          </a:p>
        </p:txBody>
      </p:sp>
      <p:pic>
        <p:nvPicPr>
          <p:cNvPr id="5" name="Picture 4">
            <a:extLst>
              <a:ext uri="{FF2B5EF4-FFF2-40B4-BE49-F238E27FC236}">
                <a16:creationId xmlns:a16="http://schemas.microsoft.com/office/drawing/2014/main" id="{8C2DB869-54EA-1C75-1CDE-9F040E27FCC9}"/>
              </a:ext>
            </a:extLst>
          </p:cNvPr>
          <p:cNvPicPr>
            <a:picLocks noChangeAspect="1"/>
          </p:cNvPicPr>
          <p:nvPr/>
        </p:nvPicPr>
        <p:blipFill>
          <a:blip r:embed="rId2"/>
          <a:stretch>
            <a:fillRect/>
          </a:stretch>
        </p:blipFill>
        <p:spPr>
          <a:xfrm>
            <a:off x="1916951" y="3746152"/>
            <a:ext cx="3258873" cy="3027519"/>
          </a:xfrm>
          <a:prstGeom prst="rect">
            <a:avLst/>
          </a:prstGeom>
          <a:ln>
            <a:solidFill>
              <a:schemeClr val="accent1"/>
            </a:solidFill>
          </a:ln>
        </p:spPr>
      </p:pic>
      <p:sp>
        <p:nvSpPr>
          <p:cNvPr id="7" name="TextBox 6">
            <a:extLst>
              <a:ext uri="{FF2B5EF4-FFF2-40B4-BE49-F238E27FC236}">
                <a16:creationId xmlns:a16="http://schemas.microsoft.com/office/drawing/2014/main" id="{06BC7E8B-F71D-5AD3-E0A6-E92990380B2C}"/>
              </a:ext>
            </a:extLst>
          </p:cNvPr>
          <p:cNvSpPr txBox="1"/>
          <p:nvPr/>
        </p:nvSpPr>
        <p:spPr>
          <a:xfrm>
            <a:off x="560191" y="1287375"/>
            <a:ext cx="1255909" cy="369332"/>
          </a:xfrm>
          <a:prstGeom prst="rect">
            <a:avLst/>
          </a:prstGeom>
          <a:noFill/>
        </p:spPr>
        <p:txBody>
          <a:bodyPr wrap="square" rtlCol="0">
            <a:spAutoFit/>
          </a:bodyPr>
          <a:lstStyle/>
          <a:p>
            <a:r>
              <a:rPr lang="en-IN" dirty="0"/>
              <a:t>QUERY -</a:t>
            </a:r>
          </a:p>
        </p:txBody>
      </p:sp>
      <p:sp>
        <p:nvSpPr>
          <p:cNvPr id="8" name="TextBox 7">
            <a:extLst>
              <a:ext uri="{FF2B5EF4-FFF2-40B4-BE49-F238E27FC236}">
                <a16:creationId xmlns:a16="http://schemas.microsoft.com/office/drawing/2014/main" id="{B95E6833-9562-BCAA-E479-A4C64AD15F74}"/>
              </a:ext>
            </a:extLst>
          </p:cNvPr>
          <p:cNvSpPr txBox="1"/>
          <p:nvPr/>
        </p:nvSpPr>
        <p:spPr>
          <a:xfrm>
            <a:off x="648446" y="4039983"/>
            <a:ext cx="1780990" cy="369332"/>
          </a:xfrm>
          <a:prstGeom prst="rect">
            <a:avLst/>
          </a:prstGeom>
          <a:noFill/>
        </p:spPr>
        <p:txBody>
          <a:bodyPr wrap="square" rtlCol="0">
            <a:spAutoFit/>
          </a:bodyPr>
          <a:lstStyle/>
          <a:p>
            <a:r>
              <a:rPr lang="en-IN" dirty="0"/>
              <a:t>RESULT - </a:t>
            </a:r>
          </a:p>
        </p:txBody>
      </p:sp>
      <p:pic>
        <p:nvPicPr>
          <p:cNvPr id="6" name="Picture 5">
            <a:extLst>
              <a:ext uri="{FF2B5EF4-FFF2-40B4-BE49-F238E27FC236}">
                <a16:creationId xmlns:a16="http://schemas.microsoft.com/office/drawing/2014/main" id="{8AE0764E-2C7A-EA10-3346-D8E491FE1E41}"/>
              </a:ext>
            </a:extLst>
          </p:cNvPr>
          <p:cNvPicPr>
            <a:picLocks noChangeAspect="1"/>
          </p:cNvPicPr>
          <p:nvPr/>
        </p:nvPicPr>
        <p:blipFill>
          <a:blip r:embed="rId3"/>
          <a:stretch>
            <a:fillRect/>
          </a:stretch>
        </p:blipFill>
        <p:spPr>
          <a:xfrm>
            <a:off x="6096000" y="3746152"/>
            <a:ext cx="4601237" cy="3021504"/>
          </a:xfrm>
          <a:prstGeom prst="rect">
            <a:avLst/>
          </a:prstGeom>
          <a:ln>
            <a:solidFill>
              <a:schemeClr val="tx1">
                <a:lumMod val="65000"/>
                <a:lumOff val="35000"/>
              </a:schemeClr>
            </a:solidFill>
          </a:ln>
        </p:spPr>
      </p:pic>
    </p:spTree>
    <p:extLst>
      <p:ext uri="{BB962C8B-B14F-4D97-AF65-F5344CB8AC3E}">
        <p14:creationId xmlns:p14="http://schemas.microsoft.com/office/powerpoint/2010/main" val="450747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7C8612-F937-94F3-36D2-E1D78ECF8762}"/>
              </a:ext>
            </a:extLst>
          </p:cNvPr>
          <p:cNvSpPr txBox="1"/>
          <p:nvPr/>
        </p:nvSpPr>
        <p:spPr>
          <a:xfrm>
            <a:off x="431800" y="584200"/>
            <a:ext cx="9791700" cy="400110"/>
          </a:xfrm>
          <a:prstGeom prst="rect">
            <a:avLst/>
          </a:prstGeom>
          <a:noFill/>
        </p:spPr>
        <p:txBody>
          <a:bodyPr wrap="square" rtlCol="0">
            <a:spAutoFit/>
          </a:bodyPr>
          <a:lstStyle/>
          <a:p>
            <a:r>
              <a:rPr lang="en-US" sz="2000" dirty="0"/>
              <a:t>18.Compare the Previous Month Sales with the current month and show only </a:t>
            </a:r>
            <a:r>
              <a:rPr lang="en-US" sz="2000" dirty="0" err="1"/>
              <a:t>declinig</a:t>
            </a:r>
            <a:r>
              <a:rPr lang="en-US" sz="2000" dirty="0"/>
              <a:t> sales.</a:t>
            </a:r>
          </a:p>
        </p:txBody>
      </p:sp>
      <p:sp>
        <p:nvSpPr>
          <p:cNvPr id="3" name="TextBox 2">
            <a:extLst>
              <a:ext uri="{FF2B5EF4-FFF2-40B4-BE49-F238E27FC236}">
                <a16:creationId xmlns:a16="http://schemas.microsoft.com/office/drawing/2014/main" id="{55646B97-B377-D633-58E9-0DA7DAA55976}"/>
              </a:ext>
            </a:extLst>
          </p:cNvPr>
          <p:cNvSpPr txBox="1"/>
          <p:nvPr/>
        </p:nvSpPr>
        <p:spPr>
          <a:xfrm>
            <a:off x="1701800" y="1231900"/>
            <a:ext cx="10490200" cy="2862322"/>
          </a:xfrm>
          <a:prstGeom prst="rect">
            <a:avLst/>
          </a:prstGeom>
          <a:noFill/>
        </p:spPr>
        <p:txBody>
          <a:bodyPr wrap="square" rtlCol="0">
            <a:spAutoFit/>
          </a:bodyPr>
          <a:lstStyle/>
          <a:p>
            <a:pPr>
              <a:buNone/>
            </a:pPr>
            <a:r>
              <a:rPr lang="en-IN" sz="1600" dirty="0">
                <a:solidFill>
                  <a:srgbClr val="0000FF"/>
                </a:solidFill>
                <a:effectLst/>
                <a:latin typeface="Cascadia Mono" panose="020B0609020000020004" pitchFamily="49" charset="0"/>
              </a:rPr>
              <a:t>with</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cte</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 </a:t>
            </a:r>
            <a:r>
              <a:rPr lang="en-IN" sz="1600" dirty="0">
                <a:solidFill>
                  <a:srgbClr val="808080"/>
                </a:solidFill>
                <a:effectLst/>
                <a:latin typeface="Cascadia Mono" panose="020B0609020000020004" pitchFamily="49" charset="0"/>
              </a:rPr>
              <a:t>(</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select</a:t>
            </a:r>
            <a:r>
              <a:rPr lang="en-IN" sz="1600" dirty="0">
                <a:solidFill>
                  <a:srgbClr val="000000"/>
                </a:solidFill>
                <a:effectLst/>
                <a:latin typeface="Cascadia Mono" panose="020B0609020000020004" pitchFamily="49" charset="0"/>
              </a:rPr>
              <a:t> </a:t>
            </a:r>
            <a:r>
              <a:rPr lang="en-IN" sz="1600" dirty="0" err="1">
                <a:solidFill>
                  <a:srgbClr val="FF00FF"/>
                </a:solidFill>
                <a:effectLst/>
                <a:latin typeface="Cascadia Mono" panose="020B0609020000020004" pitchFamily="49" charset="0"/>
              </a:rPr>
              <a:t>datepart</a:t>
            </a:r>
            <a:r>
              <a:rPr lang="en-IN" sz="1600" dirty="0">
                <a:solidFill>
                  <a:srgbClr val="808080"/>
                </a:solidFill>
                <a:effectLst/>
                <a:latin typeface="Cascadia Mono" panose="020B0609020000020004" pitchFamily="49" charset="0"/>
              </a:rPr>
              <a:t>(</a:t>
            </a:r>
            <a:r>
              <a:rPr lang="en-IN" sz="1600" dirty="0">
                <a:solidFill>
                  <a:srgbClr val="FF00FF"/>
                </a:solidFill>
                <a:effectLst/>
                <a:latin typeface="Cascadia Mono" panose="020B0609020000020004" pitchFamily="49" charset="0"/>
              </a:rPr>
              <a:t>month</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a:t>
            </a:r>
            <a:r>
              <a:rPr lang="en-IN" sz="1600" dirty="0" err="1">
                <a:solidFill>
                  <a:srgbClr val="808080"/>
                </a:solidFill>
                <a:effectLst/>
                <a:latin typeface="Cascadia Mono" panose="020B0609020000020004" pitchFamily="49" charset="0"/>
              </a:rPr>
              <a:t>.</a:t>
            </a:r>
            <a:r>
              <a:rPr lang="en-IN" sz="1600" dirty="0" err="1">
                <a:solidFill>
                  <a:srgbClr val="0000FF"/>
                </a:solidFill>
                <a:effectLst/>
                <a:latin typeface="Cascadia Mono" panose="020B0609020000020004" pitchFamily="49" charset="0"/>
              </a:rPr>
              <a:t>date</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sales_month</a:t>
            </a:r>
            <a:r>
              <a:rPr lang="en-IN" sz="1600" dirty="0" err="1">
                <a:solidFill>
                  <a:srgbClr val="808080"/>
                </a:solidFill>
                <a:effectLst/>
                <a:latin typeface="Cascadia Mono" panose="020B0609020000020004" pitchFamily="49" charset="0"/>
              </a:rPr>
              <a:t>,</a:t>
            </a:r>
            <a:r>
              <a:rPr lang="en-IN" sz="1600" dirty="0" err="1">
                <a:solidFill>
                  <a:srgbClr val="FF00FF"/>
                </a:solidFill>
                <a:effectLst/>
                <a:latin typeface="Cascadia Mono" panose="020B0609020000020004" pitchFamily="49" charset="0"/>
              </a:rPr>
              <a:t>sum</a:t>
            </a:r>
            <a:r>
              <a:rPr lang="en-IN" sz="1600" dirty="0">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od</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quantity</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p</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price</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current_sales</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from</a:t>
            </a:r>
            <a:r>
              <a:rPr lang="en-IN" sz="1600" dirty="0">
                <a:solidFill>
                  <a:srgbClr val="000000"/>
                </a:solidFill>
                <a:effectLst/>
                <a:latin typeface="Cascadia Mono" panose="020B0609020000020004" pitchFamily="49" charset="0"/>
              </a:rPr>
              <a:t> orders o </a:t>
            </a:r>
            <a:r>
              <a:rPr lang="en-IN" sz="1600" dirty="0">
                <a:solidFill>
                  <a:srgbClr val="808080"/>
                </a:solidFill>
                <a:effectLst/>
                <a:latin typeface="Cascadia Mono" panose="020B0609020000020004" pitchFamily="49" charset="0"/>
              </a:rPr>
              <a:t>join</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order_details</a:t>
            </a:r>
            <a:r>
              <a:rPr lang="en-IN" sz="1600" dirty="0">
                <a:solidFill>
                  <a:srgbClr val="000000"/>
                </a:solidFill>
                <a:effectLst/>
                <a:latin typeface="Cascadia Mono" panose="020B0609020000020004" pitchFamily="49" charset="0"/>
              </a:rPr>
              <a:t> od </a:t>
            </a:r>
            <a:r>
              <a:rPr lang="en-IN" sz="1600" dirty="0">
                <a:solidFill>
                  <a:srgbClr val="0000FF"/>
                </a:solidFill>
                <a:effectLst/>
                <a:latin typeface="Cascadia Mono" panose="020B0609020000020004" pitchFamily="49" charset="0"/>
              </a:rPr>
              <a:t>on</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order_id</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od</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order_id</a:t>
            </a:r>
            <a:endParaRPr lang="en-IN" sz="1600" dirty="0">
              <a:solidFill>
                <a:srgbClr val="000000"/>
              </a:solidFill>
              <a:effectLst/>
              <a:latin typeface="Cascadia Mono" panose="020B0609020000020004" pitchFamily="49" charset="0"/>
            </a:endParaRPr>
          </a:p>
          <a:p>
            <a:pPr>
              <a:buNone/>
            </a:pPr>
            <a:r>
              <a:rPr lang="en-IN" sz="1600" dirty="0">
                <a:solidFill>
                  <a:srgbClr val="808080"/>
                </a:solidFill>
                <a:effectLst/>
                <a:latin typeface="Cascadia Mono" panose="020B0609020000020004" pitchFamily="49" charset="0"/>
              </a:rPr>
              <a:t>join</a:t>
            </a:r>
            <a:r>
              <a:rPr lang="en-IN" sz="1600" dirty="0">
                <a:solidFill>
                  <a:srgbClr val="000000"/>
                </a:solidFill>
                <a:effectLst/>
                <a:latin typeface="Cascadia Mono" panose="020B0609020000020004" pitchFamily="49" charset="0"/>
              </a:rPr>
              <a:t> pizzas p </a:t>
            </a:r>
            <a:r>
              <a:rPr lang="en-IN" sz="1600" dirty="0">
                <a:solidFill>
                  <a:srgbClr val="0000FF"/>
                </a:solidFill>
                <a:effectLst/>
                <a:latin typeface="Cascadia Mono" panose="020B0609020000020004" pitchFamily="49" charset="0"/>
              </a:rPr>
              <a:t>on</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od</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pizza_id</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p</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pizza_id</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group</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by</a:t>
            </a:r>
            <a:r>
              <a:rPr lang="en-IN" sz="1600" dirty="0">
                <a:solidFill>
                  <a:srgbClr val="000000"/>
                </a:solidFill>
                <a:effectLst/>
                <a:latin typeface="Cascadia Mono" panose="020B0609020000020004" pitchFamily="49" charset="0"/>
              </a:rPr>
              <a:t> </a:t>
            </a:r>
            <a:r>
              <a:rPr lang="en-IN" sz="1600" dirty="0">
                <a:solidFill>
                  <a:srgbClr val="FF00FF"/>
                </a:solidFill>
                <a:effectLst/>
                <a:latin typeface="Cascadia Mono" panose="020B0609020000020004" pitchFamily="49" charset="0"/>
              </a:rPr>
              <a:t>month</a:t>
            </a:r>
            <a:r>
              <a:rPr lang="en-IN" sz="1600" dirty="0">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o</a:t>
            </a:r>
            <a:r>
              <a:rPr lang="en-IN" sz="1600" dirty="0" err="1">
                <a:solidFill>
                  <a:srgbClr val="808080"/>
                </a:solidFill>
                <a:effectLst/>
                <a:latin typeface="Cascadia Mono" panose="020B0609020000020004" pitchFamily="49" charset="0"/>
              </a:rPr>
              <a:t>.</a:t>
            </a:r>
            <a:r>
              <a:rPr lang="en-IN" sz="1600" dirty="0" err="1">
                <a:solidFill>
                  <a:srgbClr val="0000FF"/>
                </a:solidFill>
                <a:effectLst/>
                <a:latin typeface="Cascadia Mono" panose="020B0609020000020004" pitchFamily="49" charset="0"/>
              </a:rPr>
              <a:t>date</a:t>
            </a:r>
            <a:r>
              <a:rPr lang="en-IN" sz="1600" dirty="0">
                <a:solidFill>
                  <a:srgbClr val="808080"/>
                </a:solidFill>
                <a:effectLst/>
                <a:latin typeface="Cascadia Mono" panose="020B0609020000020004" pitchFamily="49" charset="0"/>
              </a:rPr>
              <a:t>)),</a:t>
            </a:r>
            <a:endParaRPr lang="en-IN" sz="1600" dirty="0">
              <a:solidFill>
                <a:srgbClr val="000000"/>
              </a:solidFill>
              <a:effectLst/>
              <a:latin typeface="Cascadia Mono" panose="020B0609020000020004" pitchFamily="49" charset="0"/>
            </a:endParaRPr>
          </a:p>
          <a:p>
            <a:pPr>
              <a:buNone/>
            </a:pPr>
            <a:r>
              <a:rPr lang="en-IN" sz="1600" b="1" dirty="0">
                <a:solidFill>
                  <a:srgbClr val="000000"/>
                </a:solidFill>
                <a:effectLst/>
                <a:latin typeface="Cascadia Mono" panose="020B0609020000020004" pitchFamily="49" charset="0"/>
              </a:rPr>
              <a:t>cte2</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 </a:t>
            </a:r>
            <a:r>
              <a:rPr lang="en-IN" sz="1600" dirty="0">
                <a:solidFill>
                  <a:srgbClr val="808080"/>
                </a:solidFill>
                <a:effectLst/>
                <a:latin typeface="Cascadia Mono" panose="020B0609020000020004" pitchFamily="49" charset="0"/>
              </a:rPr>
              <a:t>(</a:t>
            </a:r>
            <a:r>
              <a:rPr lang="en-IN" sz="1600" dirty="0">
                <a:solidFill>
                  <a:srgbClr val="0000FF"/>
                </a:solidFill>
                <a:effectLst/>
                <a:latin typeface="Cascadia Mono" panose="020B0609020000020004" pitchFamily="49" charset="0"/>
              </a:rPr>
              <a:t>select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sales_month</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current_sales</a:t>
            </a:r>
            <a:r>
              <a:rPr lang="en-IN" sz="1600" dirty="0">
                <a:solidFill>
                  <a:srgbClr val="808080"/>
                </a:solidFill>
                <a:effectLst/>
                <a:latin typeface="Cascadia Mono" panose="020B0609020000020004" pitchFamily="49" charset="0"/>
              </a:rPr>
              <a:t>,</a:t>
            </a:r>
            <a:endParaRPr lang="en-IN" sz="1600" dirty="0">
              <a:solidFill>
                <a:srgbClr val="000000"/>
              </a:solidFill>
              <a:effectLst/>
              <a:latin typeface="Cascadia Mono" panose="020B0609020000020004" pitchFamily="49" charset="0"/>
            </a:endParaRPr>
          </a:p>
          <a:p>
            <a:pPr>
              <a:buNone/>
            </a:pPr>
            <a:r>
              <a:rPr lang="en-IN" sz="1600" dirty="0">
                <a:solidFill>
                  <a:srgbClr val="000000"/>
                </a:solidFill>
                <a:effectLst/>
                <a:latin typeface="Cascadia Mono" panose="020B0609020000020004" pitchFamily="49" charset="0"/>
              </a:rPr>
              <a:t> </a:t>
            </a:r>
            <a:r>
              <a:rPr lang="en-IN" sz="1600" dirty="0">
                <a:solidFill>
                  <a:srgbClr val="FF00FF"/>
                </a:solidFill>
                <a:effectLst/>
                <a:latin typeface="Cascadia Mono" panose="020B0609020000020004" pitchFamily="49" charset="0"/>
              </a:rPr>
              <a:t>lag</a:t>
            </a:r>
            <a:r>
              <a:rPr lang="en-IN" sz="1600" dirty="0">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current_sales</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over </a:t>
            </a:r>
            <a:r>
              <a:rPr lang="en-IN" sz="1600" dirty="0">
                <a:solidFill>
                  <a:srgbClr val="808080"/>
                </a:solidFill>
                <a:effectLst/>
                <a:latin typeface="Cascadia Mono" panose="020B0609020000020004" pitchFamily="49" charset="0"/>
              </a:rPr>
              <a:t>(</a:t>
            </a:r>
            <a:r>
              <a:rPr lang="en-IN" sz="1600" dirty="0">
                <a:solidFill>
                  <a:srgbClr val="0000FF"/>
                </a:solidFill>
                <a:effectLst/>
                <a:latin typeface="Cascadia Mono" panose="020B0609020000020004" pitchFamily="49" charset="0"/>
              </a:rPr>
              <a:t>order</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by</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sales_month</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prev_sales</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from</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cte</a:t>
            </a:r>
            <a:r>
              <a:rPr lang="en-IN" sz="1600" dirty="0">
                <a:solidFill>
                  <a:srgbClr val="808080"/>
                </a:solidFill>
                <a:effectLst/>
                <a:latin typeface="Cascadia Mono" panose="020B0609020000020004" pitchFamily="49" charset="0"/>
              </a:rPr>
              <a:t>)</a:t>
            </a:r>
            <a:endParaRPr lang="en-IN" sz="1600" dirty="0">
              <a:solidFill>
                <a:srgbClr val="000000"/>
              </a:solidFill>
              <a:effectLst/>
              <a:latin typeface="Cascadia Mono" panose="020B0609020000020004" pitchFamily="49" charset="0"/>
            </a:endParaRPr>
          </a:p>
          <a:p>
            <a:pPr>
              <a:buNone/>
            </a:pPr>
            <a:r>
              <a:rPr lang="en-IN" sz="1600" dirty="0">
                <a:solidFill>
                  <a:srgbClr val="0000FF"/>
                </a:solidFill>
                <a:effectLst/>
                <a:latin typeface="Cascadia Mono" panose="020B0609020000020004" pitchFamily="49" charset="0"/>
              </a:rPr>
              <a:t>select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sales_month</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prev_sales</a:t>
            </a:r>
            <a:r>
              <a:rPr lang="en-IN" sz="1600" dirty="0" err="1">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current_sales</a:t>
            </a:r>
            <a:r>
              <a:rPr lang="en-IN" sz="1600" dirty="0">
                <a:solidFill>
                  <a:srgbClr val="808080"/>
                </a:solidFill>
                <a:effectLst/>
                <a:latin typeface="Cascadia Mono" panose="020B0609020000020004" pitchFamily="49" charset="0"/>
              </a:rPr>
              <a:t>,(</a:t>
            </a:r>
            <a:r>
              <a:rPr lang="en-IN" sz="1600" dirty="0" err="1">
                <a:solidFill>
                  <a:srgbClr val="000000"/>
                </a:solidFill>
                <a:effectLst/>
                <a:latin typeface="Cascadia Mono" panose="020B0609020000020004" pitchFamily="49" charset="0"/>
              </a:rPr>
              <a:t>current_sales</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prev_sales</a:t>
            </a:r>
            <a:r>
              <a:rPr lang="en-IN" sz="1600" dirty="0">
                <a:solidFill>
                  <a:srgbClr val="808080"/>
                </a:solidFill>
                <a:effectLst/>
                <a:latin typeface="Cascadia Mono" panose="020B0609020000020004" pitchFamily="49" charset="0"/>
              </a:rPr>
              <a:t>)</a:t>
            </a:r>
            <a:r>
              <a:rPr lang="en-IN" sz="1600" dirty="0">
                <a:solidFill>
                  <a:srgbClr val="000000"/>
                </a:solidFill>
                <a:effectLst/>
                <a:latin typeface="Cascadia Mono" panose="020B0609020000020004" pitchFamily="49" charset="0"/>
              </a:rPr>
              <a:t> </a:t>
            </a:r>
            <a:r>
              <a:rPr lang="en-IN" sz="1600" dirty="0">
                <a:solidFill>
                  <a:srgbClr val="0000FF"/>
                </a:solidFill>
                <a:effectLst/>
                <a:latin typeface="Cascadia Mono" panose="020B0609020000020004" pitchFamily="49" charset="0"/>
              </a:rPr>
              <a:t>as</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sales_drop</a:t>
            </a:r>
            <a:r>
              <a:rPr lang="en-IN" sz="1600" dirty="0">
                <a:solidFill>
                  <a:srgbClr val="000000"/>
                </a:solidFill>
                <a:latin typeface="Cascadia Mono" panose="020B0609020000020004" pitchFamily="49" charset="0"/>
              </a:rPr>
              <a:t> </a:t>
            </a:r>
            <a:r>
              <a:rPr lang="en-IN" sz="1600" dirty="0">
                <a:solidFill>
                  <a:srgbClr val="0000FF"/>
                </a:solidFill>
                <a:effectLst/>
                <a:latin typeface="Cascadia Mono" panose="020B0609020000020004" pitchFamily="49" charset="0"/>
              </a:rPr>
              <a:t>from</a:t>
            </a:r>
            <a:r>
              <a:rPr lang="en-IN" sz="1600" dirty="0">
                <a:solidFill>
                  <a:srgbClr val="000000"/>
                </a:solidFill>
                <a:effectLst/>
                <a:latin typeface="Cascadia Mono" panose="020B0609020000020004" pitchFamily="49" charset="0"/>
              </a:rPr>
              <a:t> </a:t>
            </a:r>
            <a:r>
              <a:rPr lang="en-IN" sz="1600" b="1" dirty="0">
                <a:solidFill>
                  <a:srgbClr val="000000"/>
                </a:solidFill>
                <a:effectLst/>
                <a:latin typeface="Cascadia Mono" panose="020B0609020000020004" pitchFamily="49" charset="0"/>
              </a:rPr>
              <a:t>cte2</a:t>
            </a:r>
          </a:p>
          <a:p>
            <a:pPr>
              <a:buNone/>
            </a:pPr>
            <a:r>
              <a:rPr lang="en-IN" sz="1600" dirty="0">
                <a:solidFill>
                  <a:srgbClr val="0000FF"/>
                </a:solidFill>
                <a:effectLst/>
                <a:latin typeface="Cascadia Mono" panose="020B0609020000020004" pitchFamily="49" charset="0"/>
              </a:rPr>
              <a:t>where</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current_sales</a:t>
            </a:r>
            <a:r>
              <a:rPr lang="en-IN" sz="1600" dirty="0">
                <a:solidFill>
                  <a:srgbClr val="000000"/>
                </a:solidFill>
                <a:effectLst/>
                <a:latin typeface="Cascadia Mono" panose="020B0609020000020004" pitchFamily="49" charset="0"/>
              </a:rPr>
              <a:t> </a:t>
            </a:r>
            <a:r>
              <a:rPr lang="en-IN" sz="1600" dirty="0">
                <a:solidFill>
                  <a:srgbClr val="808080"/>
                </a:solidFill>
                <a:effectLst/>
                <a:latin typeface="Cascadia Mono" panose="020B0609020000020004" pitchFamily="49" charset="0"/>
              </a:rPr>
              <a:t>&lt;</a:t>
            </a:r>
            <a:r>
              <a:rPr lang="en-IN" sz="1600" dirty="0">
                <a:solidFill>
                  <a:srgbClr val="000000"/>
                </a:solidFill>
                <a:effectLst/>
                <a:latin typeface="Cascadia Mono" panose="020B0609020000020004" pitchFamily="49" charset="0"/>
              </a:rPr>
              <a:t> </a:t>
            </a:r>
            <a:r>
              <a:rPr lang="en-IN" sz="1600" dirty="0" err="1">
                <a:solidFill>
                  <a:srgbClr val="000000"/>
                </a:solidFill>
                <a:effectLst/>
                <a:latin typeface="Cascadia Mono" panose="020B0609020000020004" pitchFamily="49" charset="0"/>
              </a:rPr>
              <a:t>prev_sales</a:t>
            </a:r>
            <a:endParaRPr lang="en-IN" sz="1600" dirty="0">
              <a:solidFill>
                <a:srgbClr val="000000"/>
              </a:solidFill>
              <a:effectLst/>
              <a:latin typeface="Cascadia Mono" panose="020B0609020000020004" pitchFamily="49" charset="0"/>
            </a:endParaRPr>
          </a:p>
        </p:txBody>
      </p:sp>
      <p:sp>
        <p:nvSpPr>
          <p:cNvPr id="4" name="TextBox 3">
            <a:extLst>
              <a:ext uri="{FF2B5EF4-FFF2-40B4-BE49-F238E27FC236}">
                <a16:creationId xmlns:a16="http://schemas.microsoft.com/office/drawing/2014/main" id="{D5A091F5-1CA7-754C-1766-46FD77805F2C}"/>
              </a:ext>
            </a:extLst>
          </p:cNvPr>
          <p:cNvSpPr txBox="1"/>
          <p:nvPr/>
        </p:nvSpPr>
        <p:spPr>
          <a:xfrm>
            <a:off x="558155" y="1047234"/>
            <a:ext cx="1255909" cy="369332"/>
          </a:xfrm>
          <a:prstGeom prst="rect">
            <a:avLst/>
          </a:prstGeom>
          <a:noFill/>
        </p:spPr>
        <p:txBody>
          <a:bodyPr wrap="square" rtlCol="0">
            <a:spAutoFit/>
          </a:bodyPr>
          <a:lstStyle/>
          <a:p>
            <a:r>
              <a:rPr lang="en-IN" dirty="0"/>
              <a:t>QUERY -</a:t>
            </a:r>
          </a:p>
        </p:txBody>
      </p:sp>
      <p:sp>
        <p:nvSpPr>
          <p:cNvPr id="5" name="TextBox 4">
            <a:extLst>
              <a:ext uri="{FF2B5EF4-FFF2-40B4-BE49-F238E27FC236}">
                <a16:creationId xmlns:a16="http://schemas.microsoft.com/office/drawing/2014/main" id="{3654902E-83BD-F7E1-3047-501F5758D1D6}"/>
              </a:ext>
            </a:extLst>
          </p:cNvPr>
          <p:cNvSpPr txBox="1"/>
          <p:nvPr/>
        </p:nvSpPr>
        <p:spPr>
          <a:xfrm>
            <a:off x="558155" y="4444008"/>
            <a:ext cx="1255909" cy="369332"/>
          </a:xfrm>
          <a:prstGeom prst="rect">
            <a:avLst/>
          </a:prstGeom>
          <a:noFill/>
        </p:spPr>
        <p:txBody>
          <a:bodyPr wrap="square" rtlCol="0">
            <a:spAutoFit/>
          </a:bodyPr>
          <a:lstStyle/>
          <a:p>
            <a:r>
              <a:rPr lang="en-IN" dirty="0"/>
              <a:t>RESULT - </a:t>
            </a:r>
          </a:p>
        </p:txBody>
      </p:sp>
      <p:pic>
        <p:nvPicPr>
          <p:cNvPr id="7" name="Picture 6">
            <a:extLst>
              <a:ext uri="{FF2B5EF4-FFF2-40B4-BE49-F238E27FC236}">
                <a16:creationId xmlns:a16="http://schemas.microsoft.com/office/drawing/2014/main" id="{212DF4D2-D3E8-5B85-B17D-A55466E4FDB9}"/>
              </a:ext>
            </a:extLst>
          </p:cNvPr>
          <p:cNvPicPr>
            <a:picLocks noChangeAspect="1"/>
          </p:cNvPicPr>
          <p:nvPr/>
        </p:nvPicPr>
        <p:blipFill>
          <a:blip r:embed="rId2"/>
          <a:stretch>
            <a:fillRect/>
          </a:stretch>
        </p:blipFill>
        <p:spPr>
          <a:xfrm>
            <a:off x="1814064" y="4341812"/>
            <a:ext cx="5570697" cy="2210792"/>
          </a:xfrm>
          <a:prstGeom prst="rect">
            <a:avLst/>
          </a:prstGeom>
          <a:ln>
            <a:solidFill>
              <a:schemeClr val="accent1"/>
            </a:solidFill>
          </a:ln>
        </p:spPr>
      </p:pic>
      <p:pic>
        <p:nvPicPr>
          <p:cNvPr id="8" name="Picture 7">
            <a:extLst>
              <a:ext uri="{FF2B5EF4-FFF2-40B4-BE49-F238E27FC236}">
                <a16:creationId xmlns:a16="http://schemas.microsoft.com/office/drawing/2014/main" id="{78CDACA7-7918-8481-1A85-4F2E489AB8E3}"/>
              </a:ext>
            </a:extLst>
          </p:cNvPr>
          <p:cNvPicPr>
            <a:picLocks noChangeAspect="1"/>
          </p:cNvPicPr>
          <p:nvPr/>
        </p:nvPicPr>
        <p:blipFill>
          <a:blip r:embed="rId3"/>
          <a:stretch>
            <a:fillRect/>
          </a:stretch>
        </p:blipFill>
        <p:spPr>
          <a:xfrm>
            <a:off x="7918577" y="4035059"/>
            <a:ext cx="3715268" cy="2619741"/>
          </a:xfrm>
          <a:prstGeom prst="rect">
            <a:avLst/>
          </a:prstGeom>
          <a:ln>
            <a:solidFill>
              <a:schemeClr val="tx1"/>
            </a:solidFill>
          </a:ln>
        </p:spPr>
      </p:pic>
    </p:spTree>
    <p:extLst>
      <p:ext uri="{BB962C8B-B14F-4D97-AF65-F5344CB8AC3E}">
        <p14:creationId xmlns:p14="http://schemas.microsoft.com/office/powerpoint/2010/main" val="4174067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F37A0-A2CF-4E0F-82DB-E21C90602EBE}"/>
              </a:ext>
            </a:extLst>
          </p:cNvPr>
          <p:cNvSpPr>
            <a:spLocks noGrp="1"/>
          </p:cNvSpPr>
          <p:nvPr>
            <p:ph type="title"/>
          </p:nvPr>
        </p:nvSpPr>
        <p:spPr>
          <a:xfrm>
            <a:off x="673100" y="815051"/>
            <a:ext cx="8382000" cy="723900"/>
          </a:xfrm>
        </p:spPr>
        <p:txBody>
          <a:bodyPr>
            <a:noAutofit/>
          </a:bodyPr>
          <a:lstStyle/>
          <a:p>
            <a:r>
              <a:rPr lang="en-IN" sz="4000" dirty="0"/>
              <a:t>Conclusion and key insights</a:t>
            </a:r>
          </a:p>
        </p:txBody>
      </p:sp>
      <p:sp>
        <p:nvSpPr>
          <p:cNvPr id="5" name="TextBox 4">
            <a:extLst>
              <a:ext uri="{FF2B5EF4-FFF2-40B4-BE49-F238E27FC236}">
                <a16:creationId xmlns:a16="http://schemas.microsoft.com/office/drawing/2014/main" id="{159B0FAA-F39C-6A78-5BA5-A59891C94D7F}"/>
              </a:ext>
            </a:extLst>
          </p:cNvPr>
          <p:cNvSpPr txBox="1"/>
          <p:nvPr/>
        </p:nvSpPr>
        <p:spPr>
          <a:xfrm>
            <a:off x="476250" y="1841500"/>
            <a:ext cx="11239500" cy="4601260"/>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a:t>Sales Analysis</a:t>
            </a:r>
          </a:p>
          <a:p>
            <a:endParaRPr lang="en-US" sz="400" b="1" dirty="0"/>
          </a:p>
          <a:p>
            <a:pPr marL="285750" indent="-285750">
              <a:buFont typeface="Arial" panose="020B0604020202020204" pitchFamily="34" charset="0"/>
              <a:buChar char="•"/>
            </a:pPr>
            <a:r>
              <a:rPr lang="en-US" sz="2000" dirty="0"/>
              <a:t>Identified the most ordered pizzas and top-performing categories. </a:t>
            </a:r>
          </a:p>
          <a:p>
            <a:pPr marL="285750" indent="-285750">
              <a:buFont typeface="Arial" panose="020B0604020202020204" pitchFamily="34" charset="0"/>
              <a:buChar char="•"/>
            </a:pPr>
            <a:r>
              <a:rPr lang="en-US" sz="2000" dirty="0"/>
              <a:t>Calculated total pizzas sold and overall revenue generation. </a:t>
            </a:r>
          </a:p>
          <a:p>
            <a:endParaRPr lang="en-US" sz="700" dirty="0"/>
          </a:p>
          <a:p>
            <a:pPr marL="285750" indent="-285750">
              <a:buFont typeface="Wingdings" panose="05000000000000000000" pitchFamily="2" charset="2"/>
              <a:buChar char="q"/>
            </a:pPr>
            <a:r>
              <a:rPr lang="en-US" sz="2000" b="1" dirty="0"/>
              <a:t>Customer Ordering Trends</a:t>
            </a:r>
          </a:p>
          <a:p>
            <a:endParaRPr lang="en-US" sz="300" b="1" dirty="0"/>
          </a:p>
          <a:p>
            <a:pPr marL="285750" indent="-285750">
              <a:buFont typeface="Arial" panose="020B0604020202020204" pitchFamily="34" charset="0"/>
              <a:buChar char="•"/>
            </a:pPr>
            <a:r>
              <a:rPr lang="en-US" sz="2000" dirty="0"/>
              <a:t>Analyzed peak ordering hours and busiest weekdays. </a:t>
            </a:r>
          </a:p>
          <a:p>
            <a:pPr marL="285750" indent="-285750">
              <a:buFont typeface="Arial" panose="020B0604020202020204" pitchFamily="34" charset="0"/>
              <a:buChar char="•"/>
            </a:pPr>
            <a:r>
              <a:rPr lang="en-US" sz="2000" dirty="0"/>
              <a:t>Studied customer purchasing behavior and ordering patterns. </a:t>
            </a:r>
          </a:p>
          <a:p>
            <a:endParaRPr lang="en-US" sz="700" dirty="0"/>
          </a:p>
          <a:p>
            <a:pPr marL="285750" indent="-285750">
              <a:buFont typeface="Wingdings" panose="05000000000000000000" pitchFamily="2" charset="2"/>
              <a:buChar char="q"/>
            </a:pPr>
            <a:r>
              <a:rPr lang="en-US" sz="2000" b="1" dirty="0"/>
              <a:t>Revenue Insights</a:t>
            </a:r>
          </a:p>
          <a:p>
            <a:endParaRPr lang="en-US" sz="300" b="1" dirty="0"/>
          </a:p>
          <a:p>
            <a:pPr marL="285750" indent="-285750">
              <a:buFont typeface="Arial" panose="020B0604020202020204" pitchFamily="34" charset="0"/>
              <a:buChar char="•"/>
            </a:pPr>
            <a:r>
              <a:rPr lang="en-US" sz="2000" dirty="0"/>
              <a:t>Determined highest revenue-generating pizza categories. </a:t>
            </a:r>
          </a:p>
          <a:p>
            <a:pPr marL="285750" indent="-285750">
              <a:buFont typeface="Arial" panose="020B0604020202020204" pitchFamily="34" charset="0"/>
              <a:buChar char="•"/>
            </a:pPr>
            <a:r>
              <a:rPr lang="en-US" sz="2000" dirty="0"/>
              <a:t>Calculated category-wise revenue contribution and running revenue totals. </a:t>
            </a:r>
          </a:p>
          <a:p>
            <a:endParaRPr lang="en-US" sz="800" dirty="0"/>
          </a:p>
          <a:p>
            <a:pPr marL="285750" indent="-285750">
              <a:buFont typeface="Wingdings" panose="05000000000000000000" pitchFamily="2" charset="2"/>
              <a:buChar char="q"/>
            </a:pPr>
            <a:r>
              <a:rPr lang="en-US" sz="2000" b="1" dirty="0"/>
              <a:t>SQL Implementation</a:t>
            </a:r>
          </a:p>
          <a:p>
            <a:endParaRPr lang="en-US" sz="300" b="1" dirty="0"/>
          </a:p>
          <a:p>
            <a:pPr marL="285750" indent="-285750">
              <a:buFont typeface="Arial" panose="020B0604020202020204" pitchFamily="34" charset="0"/>
              <a:buChar char="•"/>
            </a:pPr>
            <a:r>
              <a:rPr lang="en-US" sz="2000" dirty="0"/>
              <a:t>Applied JOINS, Aggregate Functions, and Window Functions for advanced analysis. </a:t>
            </a:r>
          </a:p>
          <a:p>
            <a:pPr marL="285750" indent="-285750">
              <a:buFont typeface="Arial" panose="020B0604020202020204" pitchFamily="34" charset="0"/>
              <a:buChar char="•"/>
            </a:pPr>
            <a:r>
              <a:rPr lang="en-US" sz="2000" dirty="0"/>
              <a:t>Generated meaningful business insights using SQL queries.</a:t>
            </a:r>
          </a:p>
          <a:p>
            <a:endParaRPr lang="en-IN" dirty="0"/>
          </a:p>
        </p:txBody>
      </p:sp>
    </p:spTree>
    <p:extLst>
      <p:ext uri="{BB962C8B-B14F-4D97-AF65-F5344CB8AC3E}">
        <p14:creationId xmlns:p14="http://schemas.microsoft.com/office/powerpoint/2010/main" val="190330014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{1F241716-F4F5-42BF-81D1-2D081EC197BC}TF319cfb39-eeba-4af5-a5a2-03d53d0375160e3309b2-0adf682d390f</Template>
  <TotalTime>560</TotalTime>
  <Words>2180</Words>
  <Application>Microsoft Office PowerPoint</Application>
  <PresentationFormat>Widescreen</PresentationFormat>
  <Paragraphs>229</Paragraphs>
  <Slides>22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Aptos</vt:lpstr>
      <vt:lpstr>Aptos Display</vt:lpstr>
      <vt:lpstr>Arial</vt:lpstr>
      <vt:lpstr>Arial Unicode MS</vt:lpstr>
      <vt:lpstr>Cascadia Mono</vt:lpstr>
      <vt:lpstr>Constantia</vt:lpstr>
      <vt:lpstr>Gill Sans MT</vt:lpstr>
      <vt:lpstr>Lucida Sans Unicode</vt:lpstr>
      <vt:lpstr>Trebuchet MS</vt:lpstr>
      <vt:lpstr>Wingdings</vt:lpstr>
      <vt:lpstr>Wingdings 2</vt:lpstr>
      <vt:lpstr>Dividend</vt:lpstr>
      <vt:lpstr>PowerPoint Presentation</vt:lpstr>
      <vt:lpstr>Pizza sales report</vt:lpstr>
      <vt:lpstr>PowerPoint Presentation</vt:lpstr>
      <vt:lpstr>PowerPoint Presentation</vt:lpstr>
      <vt:lpstr>SQL QUERIES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and key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Simran Naudiyal</dc:creator>
  <cp:lastModifiedBy>Simran Naudiyal</cp:lastModifiedBy>
  <cp:revision>8</cp:revision>
  <dcterms:created xsi:type="dcterms:W3CDTF">2026-05-23T05:46:50Z</dcterms:created>
  <dcterms:modified xsi:type="dcterms:W3CDTF">2026-05-23T19:10:14Z</dcterms:modified>
</cp:coreProperties>
</file>